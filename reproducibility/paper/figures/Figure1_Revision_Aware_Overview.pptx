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4287500" cy="6667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user-supplied Figure 1 revision brief and AISTATS working paper main.tex, Propositions 1–4 and Theorem 1. Panel (a) is an illustrative schematic, not measured data: the same observations have different residual arrows under two posterior trend estimates. Beta remains a static latent variable. R_u_beta = transpose(R_beta_u). Panel (b) shows schematic constant, linear and quadratic basis shapes on expanding horizons; these do not assert exact normalisation. Historical log-likelihood projection is one-step L2-optimal and not generally lossless. The construction of M is defined in the Method. Panel (c) requires separability, fixed spatial geometry, Cartesian blocks and homoscedastic Gaussian noise. Complexity assumes fixed d_beta. Every curve, arrow, label and equation is a native editable PowerPoint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anel divider 499">
            <a:extLst>
              <a:ext uri="{FF2B5EF4-FFF2-40B4-BE49-F238E27FC236}">
                <a16:creationId xmlns:a16="http://schemas.microsoft.com/office/drawing/2014/main" id="{D7900DC9-B2AC-4CEB-9F50-FD64BF14C35D}"/>
              </a:ext>
            </a:extLst>
          </p:cNvPr>
          <p:cNvSpPr>
            <a:spLocks noGrp="1"/>
          </p:cNvSpPr>
          <p:nvPr/>
        </p:nvSpPr>
        <p:spPr>
          <a:xfrm>
            <a:off x="4752975" y="142875"/>
            <a:ext cx="9525" cy="5600700"/>
          </a:xfrm>
          <a:prstGeom prst="rect">
            <a:avLst/>
          </a:prstGeom>
          <a:solidFill>
            <a:srgbClr val="DDE3E5"/>
          </a:solidFill>
          <a:ln w="0">
            <a:solidFill>
              <a:srgbClr val="DDE3E5"/>
            </a:solidFill>
          </a:ln>
        </p:spPr>
      </p:sp>
      <p:sp>
        <p:nvSpPr>
          <p:cNvPr id="2" name="panel divider 999">
            <a:extLst>
              <a:ext uri="{FF2B5EF4-FFF2-40B4-BE49-F238E27FC236}">
                <a16:creationId xmlns:a16="http://schemas.microsoft.com/office/drawing/2014/main" id="{D8CC6803-8B3E-47BF-9B94-7FE92AD3B590}"/>
              </a:ext>
            </a:extLst>
          </p:cNvPr>
          <p:cNvSpPr>
            <a:spLocks noGrp="1"/>
          </p:cNvSpPr>
          <p:nvPr/>
        </p:nvSpPr>
        <p:spPr>
          <a:xfrm>
            <a:off x="9515475" y="142875"/>
            <a:ext cx="9525" cy="5600700"/>
          </a:xfrm>
          <a:prstGeom prst="rect">
            <a:avLst/>
          </a:prstGeom>
          <a:solidFill>
            <a:srgbClr val="DDE3E5"/>
          </a:solidFill>
          <a:ln w="0">
            <a:solidFill>
              <a:srgbClr val="DDE3E5"/>
            </a:solidFill>
          </a:ln>
        </p:spPr>
      </p:sp>
      <p:sp>
        <p:nvSpPr>
          <p:cNvPr id="3" name="heading 0">
            <a:extLst>
              <a:ext uri="{FF2B5EF4-FFF2-40B4-BE49-F238E27FC236}">
                <a16:creationId xmlns:a16="http://schemas.microsoft.com/office/drawing/2014/main" id="{526834C7-FF06-495C-8AE0-25D92C7AB469}"/>
              </a:ext>
            </a:extLst>
          </p:cNvPr>
          <p:cNvSpPr>
            <a:spLocks noGrp="1"/>
          </p:cNvSpPr>
          <p:nvPr/>
        </p:nvSpPr>
        <p:spPr>
          <a:xfrm>
            <a:off x="209550" y="142875"/>
            <a:ext cx="4400550" cy="42862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172D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D40"/>
                </a:solidFill>
                <a:latin typeface="Arial"/>
                <a:ea typeface="Arial"/>
                <a:cs typeface="Arial"/>
              </a:rPr>
              <a:t>(a) Revision-aware memory</a:t>
            </a:r>
          </a:p>
        </p:txBody>
      </p:sp>
      <p:sp>
        <p:nvSpPr>
          <p:cNvPr id="4" name="rule 0">
            <a:extLst>
              <a:ext uri="{FF2B5EF4-FFF2-40B4-BE49-F238E27FC236}">
                <a16:creationId xmlns:a16="http://schemas.microsoft.com/office/drawing/2014/main" id="{419D315F-8621-4A12-93E1-678B34146E8B}"/>
              </a:ext>
            </a:extLst>
          </p:cNvPr>
          <p:cNvSpPr>
            <a:spLocks noGrp="1"/>
          </p:cNvSpPr>
          <p:nvPr/>
        </p:nvSpPr>
        <p:spPr>
          <a:xfrm>
            <a:off x="209550" y="714375"/>
            <a:ext cx="4333875" cy="9525"/>
          </a:xfrm>
          <a:prstGeom prst="rect">
            <a:avLst/>
          </a:prstGeom>
          <a:solidFill>
            <a:srgbClr val="DDE3E5"/>
          </a:solidFill>
          <a:ln w="0">
            <a:solidFill>
              <a:srgbClr val="DDE3E5"/>
            </a:solidFill>
          </a:ln>
        </p:spPr>
      </p:sp>
      <p:sp>
        <p:nvSpPr>
          <p:cNvPr id="5" name="heading 1">
            <a:extLst>
              <a:ext uri="{FF2B5EF4-FFF2-40B4-BE49-F238E27FC236}">
                <a16:creationId xmlns:a16="http://schemas.microsoft.com/office/drawing/2014/main" id="{293C00EF-F2C4-40BD-925E-A24697D3C0D0}"/>
              </a:ext>
            </a:extLst>
          </p:cNvPr>
          <p:cNvSpPr>
            <a:spLocks noGrp="1"/>
          </p:cNvSpPr>
          <p:nvPr/>
        </p:nvSpPr>
        <p:spPr>
          <a:xfrm>
            <a:off x="4972050" y="142875"/>
            <a:ext cx="4400550" cy="42862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172D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D40"/>
                </a:solidFill>
                <a:latin typeface="Arial"/>
                <a:ea typeface="Arial"/>
                <a:cs typeface="Arial"/>
              </a:rPr>
              <a:t>(b) Coordinate-consistent transfer</a:t>
            </a:r>
          </a:p>
        </p:txBody>
      </p:sp>
      <p:sp>
        <p:nvSpPr>
          <p:cNvPr id="6" name="rule 1">
            <a:extLst>
              <a:ext uri="{FF2B5EF4-FFF2-40B4-BE49-F238E27FC236}">
                <a16:creationId xmlns:a16="http://schemas.microsoft.com/office/drawing/2014/main" id="{7AEE5893-6D1E-4EDA-9011-1C010CF3C725}"/>
              </a:ext>
            </a:extLst>
          </p:cNvPr>
          <p:cNvSpPr>
            <a:spLocks noGrp="1"/>
          </p:cNvSpPr>
          <p:nvPr/>
        </p:nvSpPr>
        <p:spPr>
          <a:xfrm>
            <a:off x="4972050" y="714375"/>
            <a:ext cx="4333875" cy="9525"/>
          </a:xfrm>
          <a:prstGeom prst="rect">
            <a:avLst/>
          </a:prstGeom>
          <a:solidFill>
            <a:srgbClr val="DDE3E5"/>
          </a:solidFill>
          <a:ln w="0">
            <a:solidFill>
              <a:srgbClr val="DDE3E5"/>
            </a:solidFill>
          </a:ln>
        </p:spPr>
      </p:sp>
      <p:sp>
        <p:nvSpPr>
          <p:cNvPr id="7" name="heading 2">
            <a:extLst>
              <a:ext uri="{FF2B5EF4-FFF2-40B4-BE49-F238E27FC236}">
                <a16:creationId xmlns:a16="http://schemas.microsoft.com/office/drawing/2014/main" id="{C0E11936-7968-4290-89D7-F802F22DB9C9}"/>
              </a:ext>
            </a:extLst>
          </p:cNvPr>
          <p:cNvSpPr>
            <a:spLocks noGrp="1"/>
          </p:cNvSpPr>
          <p:nvPr/>
        </p:nvSpPr>
        <p:spPr>
          <a:xfrm>
            <a:off x="9734550" y="142875"/>
            <a:ext cx="4400550" cy="42862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172D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D40"/>
                </a:solidFill>
                <a:latin typeface="Arial"/>
                <a:ea typeface="Arial"/>
                <a:cs typeface="Arial"/>
              </a:rPr>
              <a:t>(c) Structure-preserving recovery</a:t>
            </a:r>
          </a:p>
        </p:txBody>
      </p:sp>
      <p:sp>
        <p:nvSpPr>
          <p:cNvPr id="8" name="rule 2">
            <a:extLst>
              <a:ext uri="{FF2B5EF4-FFF2-40B4-BE49-F238E27FC236}">
                <a16:creationId xmlns:a16="http://schemas.microsoft.com/office/drawing/2014/main" id="{1C0EBED7-0480-43B6-A473-8F3F24A27AFD}"/>
              </a:ext>
            </a:extLst>
          </p:cNvPr>
          <p:cNvSpPr>
            <a:spLocks noGrp="1"/>
          </p:cNvSpPr>
          <p:nvPr/>
        </p:nvSpPr>
        <p:spPr>
          <a:xfrm>
            <a:off x="9734550" y="714375"/>
            <a:ext cx="4333875" cy="9525"/>
          </a:xfrm>
          <a:prstGeom prst="rect">
            <a:avLst/>
          </a:prstGeom>
          <a:solidFill>
            <a:srgbClr val="DDE3E5"/>
          </a:solidFill>
          <a:ln w="0">
            <a:solidFill>
              <a:srgbClr val="DDE3E5"/>
            </a:solidFill>
          </a:ln>
        </p:spPr>
      </p:sp>
      <p:sp>
        <p:nvSpPr>
          <p:cNvPr id="9" name="shared observations">
            <a:extLst>
              <a:ext uri="{FF2B5EF4-FFF2-40B4-BE49-F238E27FC236}">
                <a16:creationId xmlns:a16="http://schemas.microsoft.com/office/drawing/2014/main" id="{3B76F314-24AF-4980-AB72-8B800A205FF4}"/>
              </a:ext>
            </a:extLst>
          </p:cNvPr>
          <p:cNvSpPr>
            <a:spLocks noGrp="1"/>
          </p:cNvSpPr>
          <p:nvPr/>
        </p:nvSpPr>
        <p:spPr>
          <a:xfrm>
            <a:off x="400050" y="1152525"/>
            <a:ext cx="3810000" cy="27622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ctr">
              <a:defRPr sz="1425" b="0">
                <a:solidFill>
                  <a:srgbClr val="6570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77"/>
                </a:solidFill>
                <a:latin typeface="Arial"/>
                <a:ea typeface="Arial"/>
                <a:cs typeface="Arial"/>
              </a:rPr>
              <a:t>Same historical observations</a:t>
            </a:r>
          </a:p>
        </p:txBody>
      </p:sp>
      <p:sp>
        <p:nvSpPr>
          <p:cNvPr id="10" name="CURVE_previous_trend">
            <a:extLst>
              <a:ext uri="{FF2B5EF4-FFF2-40B4-BE49-F238E27FC236}">
                <a16:creationId xmlns:a16="http://schemas.microsoft.com/office/drawing/2014/main" id="{15301629-8510-4387-9270-7A51F77E0B47}"/>
              </a:ext>
            </a:extLst>
          </p:cNvPr>
          <p:cNvSpPr>
            <a:spLocks noGrp="1"/>
          </p:cNvSpPr>
          <p:nvPr/>
        </p:nvSpPr>
        <p:spPr>
          <a:xfrm>
            <a:off x="542925" y="1809750"/>
            <a:ext cx="3276600" cy="161925"/>
          </a:xfrm>
          <a:custGeom>
            <a:avLst/>
            <a:gdLst/>
            <a:ahLst/>
            <a:cxnLst/>
            <a:rect l="0" t="0" r="r" b="b"/>
            <a:pathLst>
              <a:path w="344000" h="17000" fill="none" extrusionOk="0">
                <a:moveTo>
                  <a:pt x="0" y="17000"/>
                </a:moveTo>
                <a:lnTo>
                  <a:pt x="344000" y="0"/>
                </a:lnTo>
              </a:path>
            </a:pathLst>
          </a:custGeom>
          <a:noFill/>
          <a:ln w="14288">
            <a:solidFill>
              <a:srgbClr val="8A9398"/>
            </a:solidFill>
          </a:ln>
        </p:spPr>
      </p:sp>
      <p:sp>
        <p:nvSpPr>
          <p:cNvPr id="11" name="CURVE_revised_trend">
            <a:extLst>
              <a:ext uri="{FF2B5EF4-FFF2-40B4-BE49-F238E27FC236}">
                <a16:creationId xmlns:a16="http://schemas.microsoft.com/office/drawing/2014/main" id="{FDC59D95-E655-4164-9C1D-FE073830D448}"/>
              </a:ext>
            </a:extLst>
          </p:cNvPr>
          <p:cNvSpPr>
            <a:spLocks noGrp="1"/>
          </p:cNvSpPr>
          <p:nvPr/>
        </p:nvSpPr>
        <p:spPr>
          <a:xfrm>
            <a:off x="542925" y="1428750"/>
            <a:ext cx="3276600" cy="276225"/>
          </a:xfrm>
          <a:custGeom>
            <a:avLst/>
            <a:gdLst/>
            <a:ahLst/>
            <a:cxnLst/>
            <a:rect l="0" t="0" r="r" b="b"/>
            <a:pathLst>
              <a:path w="344000" h="29000" fill="none" extrusionOk="0">
                <a:moveTo>
                  <a:pt x="0" y="29000"/>
                </a:moveTo>
                <a:lnTo>
                  <a:pt x="344000" y="0"/>
                </a:lnTo>
              </a:path>
            </a:pathLst>
          </a:custGeom>
          <a:noFill/>
          <a:ln w="19050">
            <a:solidFill>
              <a:srgbClr val="087E79"/>
            </a:solidFill>
          </a:ln>
        </p:spPr>
      </p:sp>
      <p:sp>
        <p:nvSpPr>
          <p:cNvPr id="12" name="old trend label">
            <a:extLst>
              <a:ext uri="{FF2B5EF4-FFF2-40B4-BE49-F238E27FC236}">
                <a16:creationId xmlns:a16="http://schemas.microsoft.com/office/drawing/2014/main" id="{45ED101A-7044-483C-A94E-6811A454A2C4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857250" cy="2286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6570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77"/>
                </a:solidFill>
                <a:latin typeface="Arial"/>
                <a:ea typeface="Arial"/>
                <a:cs typeface="Arial"/>
              </a:rPr>
              <a:t>old trend</a:t>
            </a:r>
          </a:p>
        </p:txBody>
      </p:sp>
      <p:sp>
        <p:nvSpPr>
          <p:cNvPr id="13" name="revised trend label">
            <a:extLst>
              <a:ext uri="{FF2B5EF4-FFF2-40B4-BE49-F238E27FC236}">
                <a16:creationId xmlns:a16="http://schemas.microsoft.com/office/drawing/2014/main" id="{800CD824-3052-4D68-8078-FD22079264C2}"/>
              </a:ext>
            </a:extLst>
          </p:cNvPr>
          <p:cNvSpPr>
            <a:spLocks noGrp="1"/>
          </p:cNvSpPr>
          <p:nvPr/>
        </p:nvSpPr>
        <p:spPr>
          <a:xfrm>
            <a:off x="571500" y="1400175"/>
            <a:ext cx="1143000" cy="2286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87E79"/>
                </a:solidFill>
                <a:latin typeface="Arial"/>
                <a:ea typeface="Arial"/>
                <a:cs typeface="Arial"/>
              </a:rPr>
              <a:t>revised trend</a:t>
            </a:r>
          </a:p>
        </p:txBody>
      </p:sp>
      <p:sp>
        <p:nvSpPr>
          <p:cNvPr id="14" name="old residual 74">
            <a:extLst>
              <a:ext uri="{FF2B5EF4-FFF2-40B4-BE49-F238E27FC236}">
                <a16:creationId xmlns:a16="http://schemas.microsoft.com/office/drawing/2014/main" id="{F363C1D6-4C5E-449F-860D-260356683429}"/>
              </a:ext>
            </a:extLst>
          </p:cNvPr>
          <p:cNvSpPr>
            <a:spLocks noGrp="1"/>
          </p:cNvSpPr>
          <p:nvPr/>
        </p:nvSpPr>
        <p:spPr>
          <a:xfrm>
            <a:off x="633413" y="1733550"/>
            <a:ext cx="47625" cy="230123"/>
          </a:xfrm>
          <a:prstGeom prst="upArrow">
            <a:avLst/>
          </a:prstGeom>
          <a:solidFill>
            <a:srgbClr val="B75523"/>
          </a:solidFill>
          <a:ln w="0">
            <a:noFill/>
          </a:ln>
        </p:spPr>
      </p:sp>
      <p:sp>
        <p:nvSpPr>
          <p:cNvPr id="15" name="revised residual 74">
            <a:extLst>
              <a:ext uri="{FF2B5EF4-FFF2-40B4-BE49-F238E27FC236}">
                <a16:creationId xmlns:a16="http://schemas.microsoft.com/office/drawing/2014/main" id="{34E3E7EC-F00D-4062-8DB2-4482B87C3189}"/>
              </a:ext>
            </a:extLst>
          </p:cNvPr>
          <p:cNvSpPr>
            <a:spLocks noGrp="1"/>
          </p:cNvSpPr>
          <p:nvPr/>
        </p:nvSpPr>
        <p:spPr>
          <a:xfrm>
            <a:off x="728663" y="1691324"/>
            <a:ext cx="47625" cy="42226"/>
          </a:xfrm>
          <a:prstGeom prst="downArrow">
            <a:avLst/>
          </a:prstGeom>
          <a:solidFill>
            <a:srgbClr val="087E79"/>
          </a:solidFill>
          <a:ln w="0">
            <a:noFill/>
          </a:ln>
        </p:spPr>
      </p:sp>
      <p:sp>
        <p:nvSpPr>
          <p:cNvPr id="16" name="old residual 139">
            <a:extLst>
              <a:ext uri="{FF2B5EF4-FFF2-40B4-BE49-F238E27FC236}">
                <a16:creationId xmlns:a16="http://schemas.microsoft.com/office/drawing/2014/main" id="{81901F0A-B793-4ED7-8243-7F04BEDB1653}"/>
              </a:ext>
            </a:extLst>
          </p:cNvPr>
          <p:cNvSpPr>
            <a:spLocks noGrp="1"/>
          </p:cNvSpPr>
          <p:nvPr/>
        </p:nvSpPr>
        <p:spPr>
          <a:xfrm>
            <a:off x="1252538" y="1562100"/>
            <a:ext cx="47625" cy="370977"/>
          </a:xfrm>
          <a:prstGeom prst="upArrow">
            <a:avLst/>
          </a:prstGeom>
          <a:solidFill>
            <a:srgbClr val="B75523"/>
          </a:solidFill>
          <a:ln w="0">
            <a:noFill/>
          </a:ln>
        </p:spPr>
      </p:sp>
      <p:sp>
        <p:nvSpPr>
          <p:cNvPr id="17" name="revised residual 139">
            <a:extLst>
              <a:ext uri="{FF2B5EF4-FFF2-40B4-BE49-F238E27FC236}">
                <a16:creationId xmlns:a16="http://schemas.microsoft.com/office/drawing/2014/main" id="{74CF8BD0-01DD-4D4E-BC18-03EC9FA690FE}"/>
              </a:ext>
            </a:extLst>
          </p:cNvPr>
          <p:cNvSpPr>
            <a:spLocks noGrp="1"/>
          </p:cNvSpPr>
          <p:nvPr/>
        </p:nvSpPr>
        <p:spPr>
          <a:xfrm>
            <a:off x="1347788" y="1562100"/>
            <a:ext cx="47625" cy="77031"/>
          </a:xfrm>
          <a:prstGeom prst="upArrow">
            <a:avLst/>
          </a:prstGeom>
          <a:solidFill>
            <a:srgbClr val="087E79"/>
          </a:solidFill>
          <a:ln w="0">
            <a:noFill/>
          </a:ln>
        </p:spPr>
      </p:sp>
      <p:sp>
        <p:nvSpPr>
          <p:cNvPr id="18" name="old residual 207">
            <a:extLst>
              <a:ext uri="{FF2B5EF4-FFF2-40B4-BE49-F238E27FC236}">
                <a16:creationId xmlns:a16="http://schemas.microsoft.com/office/drawing/2014/main" id="{D8ABD6FE-CF48-4866-B2C8-E31FC65DFA98}"/>
              </a:ext>
            </a:extLst>
          </p:cNvPr>
          <p:cNvSpPr>
            <a:spLocks noGrp="1"/>
          </p:cNvSpPr>
          <p:nvPr/>
        </p:nvSpPr>
        <p:spPr>
          <a:xfrm>
            <a:off x="1900238" y="1743075"/>
            <a:ext cx="47625" cy="157993"/>
          </a:xfrm>
          <a:prstGeom prst="upArrow">
            <a:avLst/>
          </a:prstGeom>
          <a:solidFill>
            <a:srgbClr val="B75523"/>
          </a:solidFill>
          <a:ln w="0">
            <a:noFill/>
          </a:ln>
        </p:spPr>
      </p:sp>
      <p:sp>
        <p:nvSpPr>
          <p:cNvPr id="19" name="revised residual 207">
            <a:extLst>
              <a:ext uri="{FF2B5EF4-FFF2-40B4-BE49-F238E27FC236}">
                <a16:creationId xmlns:a16="http://schemas.microsoft.com/office/drawing/2014/main" id="{009C41C5-657E-46C3-94ED-6DECBC459FFD}"/>
              </a:ext>
            </a:extLst>
          </p:cNvPr>
          <p:cNvSpPr>
            <a:spLocks noGrp="1"/>
          </p:cNvSpPr>
          <p:nvPr/>
        </p:nvSpPr>
        <p:spPr>
          <a:xfrm>
            <a:off x="1995488" y="1584528"/>
            <a:ext cx="47625" cy="158547"/>
          </a:xfrm>
          <a:prstGeom prst="downArrow">
            <a:avLst/>
          </a:prstGeom>
          <a:solidFill>
            <a:srgbClr val="087E79"/>
          </a:solidFill>
          <a:ln w="0">
            <a:noFill/>
          </a:ln>
        </p:spPr>
      </p:sp>
      <p:sp>
        <p:nvSpPr>
          <p:cNvPr id="20" name="old residual 275">
            <a:extLst>
              <a:ext uri="{FF2B5EF4-FFF2-40B4-BE49-F238E27FC236}">
                <a16:creationId xmlns:a16="http://schemas.microsoft.com/office/drawing/2014/main" id="{E063225B-1C31-40E2-900C-83B4E7E0F19B}"/>
              </a:ext>
            </a:extLst>
          </p:cNvPr>
          <p:cNvSpPr>
            <a:spLocks noGrp="1"/>
          </p:cNvSpPr>
          <p:nvPr/>
        </p:nvSpPr>
        <p:spPr>
          <a:xfrm>
            <a:off x="2547938" y="1514475"/>
            <a:ext cx="47625" cy="354585"/>
          </a:xfrm>
          <a:prstGeom prst="upArrow">
            <a:avLst/>
          </a:prstGeom>
          <a:solidFill>
            <a:srgbClr val="B75523"/>
          </a:solidFill>
          <a:ln w="0">
            <a:noFill/>
          </a:ln>
        </p:spPr>
      </p:sp>
      <p:sp>
        <p:nvSpPr>
          <p:cNvPr id="21" name="revised residual 275">
            <a:extLst>
              <a:ext uri="{FF2B5EF4-FFF2-40B4-BE49-F238E27FC236}">
                <a16:creationId xmlns:a16="http://schemas.microsoft.com/office/drawing/2014/main" id="{4942124B-2B67-41BA-86B4-94C6BE2257DD}"/>
              </a:ext>
            </a:extLst>
          </p:cNvPr>
          <p:cNvSpPr>
            <a:spLocks noGrp="1"/>
          </p:cNvSpPr>
          <p:nvPr/>
        </p:nvSpPr>
        <p:spPr>
          <a:xfrm>
            <a:off x="2643188" y="1514475"/>
            <a:ext cx="47625" cy="19050"/>
          </a:xfrm>
          <a:prstGeom prst="upArrow">
            <a:avLst/>
          </a:prstGeom>
          <a:solidFill>
            <a:srgbClr val="087E79"/>
          </a:solidFill>
          <a:ln w="0">
            <a:noFill/>
          </a:ln>
        </p:spPr>
      </p:sp>
      <p:sp>
        <p:nvSpPr>
          <p:cNvPr id="22" name="old residual 343">
            <a:extLst>
              <a:ext uri="{FF2B5EF4-FFF2-40B4-BE49-F238E27FC236}">
                <a16:creationId xmlns:a16="http://schemas.microsoft.com/office/drawing/2014/main" id="{000882B0-BA67-4656-A33D-28B801A56AD4}"/>
              </a:ext>
            </a:extLst>
          </p:cNvPr>
          <p:cNvSpPr>
            <a:spLocks noGrp="1"/>
          </p:cNvSpPr>
          <p:nvPr/>
        </p:nvSpPr>
        <p:spPr>
          <a:xfrm>
            <a:off x="3195638" y="1657350"/>
            <a:ext cx="47625" cy="179701"/>
          </a:xfrm>
          <a:prstGeom prst="upArrow">
            <a:avLst/>
          </a:prstGeom>
          <a:solidFill>
            <a:srgbClr val="B75523"/>
          </a:solidFill>
          <a:ln w="0">
            <a:noFill/>
          </a:ln>
        </p:spPr>
      </p:sp>
      <p:sp>
        <p:nvSpPr>
          <p:cNvPr id="23" name="revised residual 343">
            <a:extLst>
              <a:ext uri="{FF2B5EF4-FFF2-40B4-BE49-F238E27FC236}">
                <a16:creationId xmlns:a16="http://schemas.microsoft.com/office/drawing/2014/main" id="{595ACF31-3951-45B9-8D8E-4214FEACA9F7}"/>
              </a:ext>
            </a:extLst>
          </p:cNvPr>
          <p:cNvSpPr>
            <a:spLocks noGrp="1"/>
          </p:cNvSpPr>
          <p:nvPr/>
        </p:nvSpPr>
        <p:spPr>
          <a:xfrm>
            <a:off x="3290888" y="1475323"/>
            <a:ext cx="47625" cy="182027"/>
          </a:xfrm>
          <a:prstGeom prst="downArrow">
            <a:avLst/>
          </a:prstGeom>
          <a:solidFill>
            <a:srgbClr val="087E79"/>
          </a:solidFill>
          <a:ln w="0">
            <a:noFill/>
          </a:ln>
        </p:spPr>
      </p:sp>
      <p:sp>
        <p:nvSpPr>
          <p:cNvPr id="24" name="old residual 398">
            <a:extLst>
              <a:ext uri="{FF2B5EF4-FFF2-40B4-BE49-F238E27FC236}">
                <a16:creationId xmlns:a16="http://schemas.microsoft.com/office/drawing/2014/main" id="{EDA8BF08-AA3A-43CB-8D2F-E7A2D48BDC69}"/>
              </a:ext>
            </a:extLst>
          </p:cNvPr>
          <p:cNvSpPr>
            <a:spLocks noGrp="1"/>
          </p:cNvSpPr>
          <p:nvPr/>
        </p:nvSpPr>
        <p:spPr>
          <a:xfrm>
            <a:off x="3719513" y="1524000"/>
            <a:ext cx="47625" cy="287162"/>
          </a:xfrm>
          <a:prstGeom prst="upArrow">
            <a:avLst/>
          </a:prstGeom>
          <a:solidFill>
            <a:srgbClr val="B75523"/>
          </a:solidFill>
          <a:ln w="0">
            <a:noFill/>
          </a:ln>
        </p:spPr>
      </p:sp>
      <p:sp>
        <p:nvSpPr>
          <p:cNvPr id="25" name="revised residual 398">
            <a:extLst>
              <a:ext uri="{FF2B5EF4-FFF2-40B4-BE49-F238E27FC236}">
                <a16:creationId xmlns:a16="http://schemas.microsoft.com/office/drawing/2014/main" id="{B5F5E15F-93B9-4C8B-9A87-6B612FE8981A}"/>
              </a:ext>
            </a:extLst>
          </p:cNvPr>
          <p:cNvSpPr>
            <a:spLocks noGrp="1"/>
          </p:cNvSpPr>
          <p:nvPr/>
        </p:nvSpPr>
        <p:spPr>
          <a:xfrm>
            <a:off x="3814763" y="1431159"/>
            <a:ext cx="47625" cy="92841"/>
          </a:xfrm>
          <a:prstGeom prst="downArrow">
            <a:avLst/>
          </a:prstGeom>
          <a:solidFill>
            <a:srgbClr val="087E79"/>
          </a:solidFill>
          <a:ln w="0">
            <a:noFill/>
          </a:ln>
        </p:spPr>
      </p:sp>
      <p:sp>
        <p:nvSpPr>
          <p:cNvPr id="26" name="historical observation 0">
            <a:extLst>
              <a:ext uri="{FF2B5EF4-FFF2-40B4-BE49-F238E27FC236}">
                <a16:creationId xmlns:a16="http://schemas.microsoft.com/office/drawing/2014/main" id="{0912405B-34DE-4F6D-8C8C-884D066358CC}"/>
              </a:ext>
            </a:extLst>
          </p:cNvPr>
          <p:cNvSpPr>
            <a:spLocks noGrp="1"/>
          </p:cNvSpPr>
          <p:nvPr/>
        </p:nvSpPr>
        <p:spPr>
          <a:xfrm>
            <a:off x="675323" y="1656398"/>
            <a:ext cx="59055" cy="59055"/>
          </a:xfrm>
          <a:prstGeom prst="ellipse">
            <a:avLst/>
          </a:prstGeom>
          <a:solidFill>
            <a:srgbClr val="454C50"/>
          </a:solidFill>
          <a:ln w="0">
            <a:noFill/>
          </a:ln>
        </p:spPr>
      </p:sp>
      <p:sp>
        <p:nvSpPr>
          <p:cNvPr id="27" name="historical observation 1">
            <a:extLst>
              <a:ext uri="{FF2B5EF4-FFF2-40B4-BE49-F238E27FC236}">
                <a16:creationId xmlns:a16="http://schemas.microsoft.com/office/drawing/2014/main" id="{30D57E23-8FA5-41CC-8644-60856105D158}"/>
              </a:ext>
            </a:extLst>
          </p:cNvPr>
          <p:cNvSpPr>
            <a:spLocks noGrp="1"/>
          </p:cNvSpPr>
          <p:nvPr/>
        </p:nvSpPr>
        <p:spPr>
          <a:xfrm>
            <a:off x="1294448" y="1484948"/>
            <a:ext cx="59055" cy="59055"/>
          </a:xfrm>
          <a:prstGeom prst="ellipse">
            <a:avLst/>
          </a:prstGeom>
          <a:solidFill>
            <a:srgbClr val="454C50"/>
          </a:solidFill>
          <a:ln w="0">
            <a:noFill/>
          </a:ln>
        </p:spPr>
      </p:sp>
      <p:sp>
        <p:nvSpPr>
          <p:cNvPr id="28" name="historical observation 2">
            <a:extLst>
              <a:ext uri="{FF2B5EF4-FFF2-40B4-BE49-F238E27FC236}">
                <a16:creationId xmlns:a16="http://schemas.microsoft.com/office/drawing/2014/main" id="{74C0180C-9F5B-4E21-BAE2-C4C22838530F}"/>
              </a:ext>
            </a:extLst>
          </p:cNvPr>
          <p:cNvSpPr>
            <a:spLocks noGrp="1"/>
          </p:cNvSpPr>
          <p:nvPr/>
        </p:nvSpPr>
        <p:spPr>
          <a:xfrm>
            <a:off x="1942148" y="1665923"/>
            <a:ext cx="59055" cy="59055"/>
          </a:xfrm>
          <a:prstGeom prst="ellipse">
            <a:avLst/>
          </a:prstGeom>
          <a:solidFill>
            <a:srgbClr val="454C50"/>
          </a:solidFill>
          <a:ln w="0">
            <a:noFill/>
          </a:ln>
        </p:spPr>
      </p:sp>
      <p:sp>
        <p:nvSpPr>
          <p:cNvPr id="29" name="historical observation 3">
            <a:extLst>
              <a:ext uri="{FF2B5EF4-FFF2-40B4-BE49-F238E27FC236}">
                <a16:creationId xmlns:a16="http://schemas.microsoft.com/office/drawing/2014/main" id="{36CC573E-2022-4937-A344-1DE729DC23C9}"/>
              </a:ext>
            </a:extLst>
          </p:cNvPr>
          <p:cNvSpPr>
            <a:spLocks noGrp="1"/>
          </p:cNvSpPr>
          <p:nvPr/>
        </p:nvSpPr>
        <p:spPr>
          <a:xfrm>
            <a:off x="2589848" y="1437323"/>
            <a:ext cx="59055" cy="59055"/>
          </a:xfrm>
          <a:prstGeom prst="ellipse">
            <a:avLst/>
          </a:prstGeom>
          <a:solidFill>
            <a:srgbClr val="454C50"/>
          </a:solidFill>
          <a:ln w="0">
            <a:noFill/>
          </a:ln>
        </p:spPr>
      </p:sp>
      <p:sp>
        <p:nvSpPr>
          <p:cNvPr id="30" name="historical observation 4">
            <a:extLst>
              <a:ext uri="{FF2B5EF4-FFF2-40B4-BE49-F238E27FC236}">
                <a16:creationId xmlns:a16="http://schemas.microsoft.com/office/drawing/2014/main" id="{EB27A622-A780-430E-989D-3E637252AAAA}"/>
              </a:ext>
            </a:extLst>
          </p:cNvPr>
          <p:cNvSpPr>
            <a:spLocks noGrp="1"/>
          </p:cNvSpPr>
          <p:nvPr/>
        </p:nvSpPr>
        <p:spPr>
          <a:xfrm>
            <a:off x="3237548" y="1580198"/>
            <a:ext cx="59055" cy="59055"/>
          </a:xfrm>
          <a:prstGeom prst="ellipse">
            <a:avLst/>
          </a:prstGeom>
          <a:solidFill>
            <a:srgbClr val="454C50"/>
          </a:solidFill>
          <a:ln w="0">
            <a:noFill/>
          </a:ln>
        </p:spPr>
      </p:sp>
      <p:sp>
        <p:nvSpPr>
          <p:cNvPr id="31" name="historical observation 5">
            <a:extLst>
              <a:ext uri="{FF2B5EF4-FFF2-40B4-BE49-F238E27FC236}">
                <a16:creationId xmlns:a16="http://schemas.microsoft.com/office/drawing/2014/main" id="{EE0C30B8-C010-4633-9A79-1E49525FBB7D}"/>
              </a:ext>
            </a:extLst>
          </p:cNvPr>
          <p:cNvSpPr>
            <a:spLocks noGrp="1"/>
          </p:cNvSpPr>
          <p:nvPr/>
        </p:nvSpPr>
        <p:spPr>
          <a:xfrm>
            <a:off x="3761423" y="1446848"/>
            <a:ext cx="59055" cy="59055"/>
          </a:xfrm>
          <a:prstGeom prst="ellipse">
            <a:avLst/>
          </a:prstGeom>
          <a:solidFill>
            <a:srgbClr val="454C50"/>
          </a:solidFill>
          <a:ln w="0">
            <a:noFill/>
          </a:ln>
        </p:spPr>
      </p:sp>
      <p:sp>
        <p:nvSpPr>
          <p:cNvPr id="32" name="stale">
            <a:extLst>
              <a:ext uri="{FF2B5EF4-FFF2-40B4-BE49-F238E27FC236}">
                <a16:creationId xmlns:a16="http://schemas.microsoft.com/office/drawing/2014/main" id="{2E209019-7114-468A-A495-078AE475729E}"/>
              </a:ext>
            </a:extLst>
          </p:cNvPr>
          <p:cNvSpPr>
            <a:spLocks noGrp="1"/>
          </p:cNvSpPr>
          <p:nvPr/>
        </p:nvSpPr>
        <p:spPr>
          <a:xfrm>
            <a:off x="276225" y="2238375"/>
            <a:ext cx="4210050" cy="2952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ctr">
              <a:defRPr sz="1395" b="1">
                <a:solidFill>
                  <a:srgbClr val="B75523"/>
                </a:solidFill>
                <a:latin typeface="Arial"/>
                <a:ea typeface="Arial"/>
                <a:cs typeface="Arial"/>
              </a:defRPr>
            </a:pPr>
            <a:r>
              <a:rPr sz="1395" b="1">
                <a:solidFill>
                  <a:srgbClr val="B75523"/>
                </a:solidFill>
                <a:latin typeface="Arial"/>
                <a:ea typeface="Arial"/>
                <a:cs typeface="Arial"/>
              </a:rPr>
              <a:t>Residual-only memory becomes stale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EQ_correction_left">
                <a:extLst>
                  <a:ext uri="{FF2B5EF4-FFF2-40B4-BE49-F238E27FC236}">
                    <a16:creationId xmlns:a16="http://schemas.microsoft.com/office/drawing/2014/main" id="{2203F751-2BEB-477D-9185-5DFB0BDC867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28700" y="2657475"/>
                <a:ext cx="1619250" cy="5524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250">
                          <a:solidFill>
                            <a:srgbClr val="000000"/>
                          </a:solidFill>
                          <a:latin typeface="Cambria Math"/>
                        </a:rPr>
                        <m:t>𝛥</m:t>
                      </m:r>
                      <m:sSub>
                        <m:sSubPr>
                          <m:ctrlPr>
                            <a:rPr lang="en-US" sz="22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ℎ</m:t>
                          </m:r>
                        </m:e>
                        <m:sub>
                          <m:r>
                            <a:rPr lang="en-US" sz="22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sz="2250">
                          <a:solidFill>
                            <a:srgbClr val="000000"/>
                          </a:solidFill>
                          <a:latin typeface="Cambria Math"/>
                        </a:rPr>
                        <m:t> = − </m:t>
                      </m:r>
                    </m:oMath>
                  </m:oMathPara>
                </a14:m>
                <a:endParaRPr sz="2250"/>
              </a:p>
            </p:txBody>
          </p:sp>
        </mc:Choice>
        <mc:Fallback>
          <p:sp>
            <p:nvSpPr>
              <p:cNvPr id="33" name="EQ_correction_left">
                <a:extLst>
                  <a:ext uri="{FF2B5EF4-FFF2-40B4-BE49-F238E27FC236}">
                    <a16:creationId xmlns:a16="http://schemas.microsoft.com/office/drawing/2014/main" id="{2203F751-2BEB-477D-9185-5DFB0BDC86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" y="2657475"/>
                <a:ext cx="1619250" cy="5524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cross highlight">
            <a:extLst>
              <a:ext uri="{FF2B5EF4-FFF2-40B4-BE49-F238E27FC236}">
                <a16:creationId xmlns:a16="http://schemas.microsoft.com/office/drawing/2014/main" id="{B67DE5C3-EC19-48B9-BF06-33CC536D4E7D}"/>
              </a:ext>
            </a:extLst>
          </p:cNvPr>
          <p:cNvSpPr>
            <a:spLocks noGrp="1"/>
          </p:cNvSpPr>
          <p:nvPr/>
        </p:nvSpPr>
        <p:spPr>
          <a:xfrm>
            <a:off x="2667000" y="2695575"/>
            <a:ext cx="838200" cy="466725"/>
          </a:xfrm>
          <a:prstGeom prst="rect">
            <a:avLst/>
          </a:prstGeom>
          <a:noFill/>
          <a:ln w="19050">
            <a:solidFill>
              <a:srgbClr val="087E79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EQ_cross">
                <a:extLst>
                  <a:ext uri="{FF2B5EF4-FFF2-40B4-BE49-F238E27FC236}">
                    <a16:creationId xmlns:a16="http://schemas.microsoft.com/office/drawing/2014/main" id="{02BD47C5-B3FB-4CE5-BD4C-C882ECF4258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676525" y="2657475"/>
                <a:ext cx="819150" cy="5524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24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4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𝑢</m:t>
                          </m:r>
                          <m:r>
                            <a:rPr lang="en-US" sz="24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𝛽</m:t>
                          </m:r>
                        </m:sub>
                      </m:sSub>
                    </m:oMath>
                  </m:oMathPara>
                </a14:m>
                <a:endParaRPr sz="2400"/>
              </a:p>
            </p:txBody>
          </p:sp>
        </mc:Choice>
        <mc:Fallback>
          <p:sp>
            <p:nvSpPr>
              <p:cNvPr id="35" name="EQ_cross">
                <a:extLst>
                  <a:ext uri="{FF2B5EF4-FFF2-40B4-BE49-F238E27FC236}">
                    <a16:creationId xmlns:a16="http://schemas.microsoft.com/office/drawing/2014/main" id="{02BD47C5-B3FB-4CE5-BD4C-C882ECF425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525" y="2657475"/>
                <a:ext cx="819150" cy="552450"/>
              </a:xfrm>
              <a:prstGeom prst="rect">
                <a:avLst/>
              </a:prstGeom>
              <a:blipFill>
                <a:blip r:embed="rId4"/>
                <a:stretch>
                  <a:fillRect b="-5495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EQ_delta">
                <a:extLst>
                  <a:ext uri="{FF2B5EF4-FFF2-40B4-BE49-F238E27FC236}">
                    <a16:creationId xmlns:a16="http://schemas.microsoft.com/office/drawing/2014/main" id="{A44F6012-B4EA-44D0-9F2F-9F0F7D13E01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533775" y="2657475"/>
                <a:ext cx="762000" cy="5524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250">
                          <a:solidFill>
                            <a:srgbClr val="000000"/>
                          </a:solidFill>
                          <a:latin typeface="Cambria Math"/>
                        </a:rPr>
                        <m:t>𝛥𝛽</m:t>
                      </m:r>
                    </m:oMath>
                  </m:oMathPara>
                </a14:m>
                <a:endParaRPr sz="2250"/>
              </a:p>
            </p:txBody>
          </p:sp>
        </mc:Choice>
        <mc:Fallback>
          <p:sp>
            <p:nvSpPr>
              <p:cNvPr id="36" name="EQ_delta">
                <a:extLst>
                  <a:ext uri="{FF2B5EF4-FFF2-40B4-BE49-F238E27FC236}">
                    <a16:creationId xmlns:a16="http://schemas.microsoft.com/office/drawing/2014/main" id="{A44F6012-B4EA-44D0-9F2F-9F0F7D13E0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775" y="2657475"/>
                <a:ext cx="762000" cy="552450"/>
              </a:xfrm>
              <a:prstGeom prst="rect">
                <a:avLst/>
              </a:prstGeom>
              <a:blipFill>
                <a:blip r:embed="rId5"/>
                <a:stretch>
                  <a:fillRect b="-2198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cross label">
            <a:extLst>
              <a:ext uri="{FF2B5EF4-FFF2-40B4-BE49-F238E27FC236}">
                <a16:creationId xmlns:a16="http://schemas.microsoft.com/office/drawing/2014/main" id="{479CA30F-20F0-4989-9636-E19A2676AE38}"/>
              </a:ext>
            </a:extLst>
          </p:cNvPr>
          <p:cNvSpPr>
            <a:spLocks noGrp="1"/>
          </p:cNvSpPr>
          <p:nvPr/>
        </p:nvSpPr>
        <p:spPr>
          <a:xfrm>
            <a:off x="1819275" y="3257550"/>
            <a:ext cx="2552700" cy="27622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ctr">
              <a:defRPr sz="1425" b="0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E79"/>
                </a:solidFill>
                <a:latin typeface="Arial"/>
                <a:ea typeface="Arial"/>
                <a:cs typeface="Arial"/>
              </a:rPr>
              <a:t>required cross information</a:t>
            </a:r>
          </a:p>
        </p:txBody>
      </p:sp>
      <p:sp>
        <p:nvSpPr>
          <p:cNvPr id="38" name="residual rule">
            <a:extLst>
              <a:ext uri="{FF2B5EF4-FFF2-40B4-BE49-F238E27FC236}">
                <a16:creationId xmlns:a16="http://schemas.microsoft.com/office/drawing/2014/main" id="{392D403F-F556-4954-B32B-C8264D2127EA}"/>
              </a:ext>
            </a:extLst>
          </p:cNvPr>
          <p:cNvSpPr>
            <a:spLocks noGrp="1"/>
          </p:cNvSpPr>
          <p:nvPr/>
        </p:nvSpPr>
        <p:spPr>
          <a:xfrm>
            <a:off x="266700" y="3743325"/>
            <a:ext cx="4238625" cy="9525"/>
          </a:xfrm>
          <a:prstGeom prst="rect">
            <a:avLst/>
          </a:prstGeom>
          <a:solidFill>
            <a:srgbClr val="DDE3E5"/>
          </a:solidFill>
          <a:ln w="0">
            <a:solidFill>
              <a:srgbClr val="DDE3E5"/>
            </a:solidFill>
          </a:ln>
        </p:spPr>
      </p:sp>
      <p:sp>
        <p:nvSpPr>
          <p:cNvPr id="39" name="residual title">
            <a:extLst>
              <a:ext uri="{FF2B5EF4-FFF2-40B4-BE49-F238E27FC236}">
                <a16:creationId xmlns:a16="http://schemas.microsoft.com/office/drawing/2014/main" id="{6236CADF-05E2-4DFF-BCA8-39D1CFF9893D}"/>
              </a:ext>
            </a:extLst>
          </p:cNvPr>
          <p:cNvSpPr>
            <a:spLocks noGrp="1"/>
          </p:cNvSpPr>
          <p:nvPr/>
        </p:nvSpPr>
        <p:spPr>
          <a:xfrm>
            <a:off x="295275" y="3914775"/>
            <a:ext cx="2619375" cy="2857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Residual-only memory</a:t>
            </a:r>
          </a:p>
        </p:txBody>
      </p:sp>
      <p:sp>
        <p:nvSpPr>
          <p:cNvPr id="40" name="residual verdict">
            <a:extLst>
              <a:ext uri="{FF2B5EF4-FFF2-40B4-BE49-F238E27FC236}">
                <a16:creationId xmlns:a16="http://schemas.microsoft.com/office/drawing/2014/main" id="{40871290-C868-433F-8512-A7274BEC0518}"/>
              </a:ext>
            </a:extLst>
          </p:cNvPr>
          <p:cNvSpPr>
            <a:spLocks noGrp="1"/>
          </p:cNvSpPr>
          <p:nvPr/>
        </p:nvSpPr>
        <p:spPr>
          <a:xfrm>
            <a:off x="3095625" y="3914775"/>
            <a:ext cx="1400175" cy="2857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B7552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75523"/>
                </a:solidFill>
                <a:latin typeface="Arial"/>
                <a:ea typeface="Arial"/>
                <a:cs typeface="Arial"/>
              </a:rPr>
              <a:t>× stale</a:t>
            </a:r>
          </a:p>
        </p:txBody>
      </p:sp>
      <p:sp>
        <p:nvSpPr>
          <p:cNvPr id="41" name="joint title">
            <a:extLst>
              <a:ext uri="{FF2B5EF4-FFF2-40B4-BE49-F238E27FC236}">
                <a16:creationId xmlns:a16="http://schemas.microsoft.com/office/drawing/2014/main" id="{791BC38D-27DE-488B-B9DB-E15271CAF1AE}"/>
              </a:ext>
            </a:extLst>
          </p:cNvPr>
          <p:cNvSpPr>
            <a:spLocks noGrp="1"/>
          </p:cNvSpPr>
          <p:nvPr/>
        </p:nvSpPr>
        <p:spPr>
          <a:xfrm>
            <a:off x="295275" y="4362450"/>
            <a:ext cx="2562225" cy="2857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Joint likelihood memory</a:t>
            </a:r>
          </a:p>
        </p:txBody>
      </p:sp>
      <p:sp>
        <p:nvSpPr>
          <p:cNvPr id="42" name="joint verdict">
            <a:extLst>
              <a:ext uri="{FF2B5EF4-FFF2-40B4-BE49-F238E27FC236}">
                <a16:creationId xmlns:a16="http://schemas.microsoft.com/office/drawing/2014/main" id="{15DA018F-9401-469B-BC9B-D85D2A224D1C}"/>
              </a:ext>
            </a:extLst>
          </p:cNvPr>
          <p:cNvSpPr>
            <a:spLocks noGrp="1"/>
          </p:cNvSpPr>
          <p:nvPr/>
        </p:nvSpPr>
        <p:spPr>
          <a:xfrm>
            <a:off x="2809875" y="4362450"/>
            <a:ext cx="1724025" cy="2857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✓ revision-aware</a:t>
            </a:r>
          </a:p>
        </p:txBody>
      </p:sp>
      <p:sp>
        <p:nvSpPr>
          <p:cNvPr id="43" name="memory takeaway">
            <a:extLst>
              <a:ext uri="{FF2B5EF4-FFF2-40B4-BE49-F238E27FC236}">
                <a16:creationId xmlns:a16="http://schemas.microsoft.com/office/drawing/2014/main" id="{ECA7DE9B-99B7-46FC-B43B-B3521DEFAFFE}"/>
              </a:ext>
            </a:extLst>
          </p:cNvPr>
          <p:cNvSpPr>
            <a:spLocks noGrp="1"/>
          </p:cNvSpPr>
          <p:nvPr/>
        </p:nvSpPr>
        <p:spPr>
          <a:xfrm>
            <a:off x="276225" y="5019675"/>
            <a:ext cx="4219575" cy="5524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72D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D40"/>
                </a:solidFill>
                <a:latin typeface="Arial"/>
                <a:ea typeface="Arial"/>
                <a:cs typeface="Arial"/>
              </a:rPr>
              <a:t>Cross information enables</a:t>
            </a:r>
          </a:p>
          <a:p>
            <a:pPr algn="ctr">
              <a:defRPr sz="1650" b="1">
                <a:solidFill>
                  <a:srgbClr val="172D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D40"/>
                </a:solidFill>
                <a:latin typeface="Arial"/>
                <a:ea typeface="Arial"/>
                <a:cs typeface="Arial"/>
              </a:rPr>
              <a:t>replay-free revision.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_uold">
                <a:extLst>
                  <a:ext uri="{FF2B5EF4-FFF2-40B4-BE49-F238E27FC236}">
                    <a16:creationId xmlns:a16="http://schemas.microsoft.com/office/drawing/2014/main" id="{3AF88F4B-2776-4784-94F0-212FC97EF5E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200650" y="904875"/>
                <a:ext cx="1190625" cy="4191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22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2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sz="22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sz="2250"/>
              </a:p>
            </p:txBody>
          </p:sp>
        </mc:Choice>
        <mc:Fallback>
          <p:sp>
            <p:nvSpPr>
              <p:cNvPr id="44" name="EQ_uold">
                <a:extLst>
                  <a:ext uri="{FF2B5EF4-FFF2-40B4-BE49-F238E27FC236}">
                    <a16:creationId xmlns:a16="http://schemas.microsoft.com/office/drawing/2014/main" id="{3AF88F4B-2776-4784-94F0-212FC97EF5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650" y="904875"/>
                <a:ext cx="1190625" cy="419100"/>
              </a:xfrm>
              <a:prstGeom prst="rect">
                <a:avLst/>
              </a:prstGeom>
              <a:blipFill>
                <a:blip r:embed="rId6"/>
                <a:stretch>
                  <a:fillRect b="-5797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EQ_unew">
                <a:extLst>
                  <a:ext uri="{FF2B5EF4-FFF2-40B4-BE49-F238E27FC236}">
                    <a16:creationId xmlns:a16="http://schemas.microsoft.com/office/drawing/2014/main" id="{AF3FE9D3-BA9B-4B0C-9EBD-37BF7B76CD3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772400" y="904875"/>
                <a:ext cx="1190625" cy="4191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22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2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sz="2250"/>
              </a:p>
            </p:txBody>
          </p:sp>
        </mc:Choice>
        <mc:Fallback>
          <p:sp>
            <p:nvSpPr>
              <p:cNvPr id="45" name="EQ_unew">
                <a:extLst>
                  <a:ext uri="{FF2B5EF4-FFF2-40B4-BE49-F238E27FC236}">
                    <a16:creationId xmlns:a16="http://schemas.microsoft.com/office/drawing/2014/main" id="{AF3FE9D3-BA9B-4B0C-9EBD-37BF7B76CD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0" y="904875"/>
                <a:ext cx="1190625" cy="419100"/>
              </a:xfrm>
              <a:prstGeom prst="rect">
                <a:avLst/>
              </a:prstGeom>
              <a:blipFill>
                <a:blip r:embed="rId7"/>
                <a:stretch>
                  <a:fillRect b="-5797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hanging coordinates">
            <a:extLst>
              <a:ext uri="{FF2B5EF4-FFF2-40B4-BE49-F238E27FC236}">
                <a16:creationId xmlns:a16="http://schemas.microsoft.com/office/drawing/2014/main" id="{4CAF21AB-CDD8-4249-BB3C-EA1D8A08A53D}"/>
              </a:ext>
            </a:extLst>
          </p:cNvPr>
          <p:cNvSpPr>
            <a:spLocks noGrp="1"/>
          </p:cNvSpPr>
          <p:nvPr/>
        </p:nvSpPr>
        <p:spPr>
          <a:xfrm>
            <a:off x="6791325" y="1104900"/>
            <a:ext cx="438150" cy="95250"/>
          </a:xfrm>
          <a:prstGeom prst="rightArrow">
            <a:avLst/>
          </a:prstGeom>
          <a:solidFill>
            <a:srgbClr val="247698"/>
          </a:solidFill>
          <a:ln w="0"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EQ_basisold">
                <a:extLst>
                  <a:ext uri="{FF2B5EF4-FFF2-40B4-BE49-F238E27FC236}">
                    <a16:creationId xmlns:a16="http://schemas.microsoft.com/office/drawing/2014/main" id="{2B542561-63BB-4FF7-B651-6E71F54E5A1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962525" y="1333500"/>
                <a:ext cx="1762125" cy="2857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1500">
                          <a:solidFill>
                            <a:srgbClr val="000000"/>
                          </a:solidFill>
                          <a:latin typeface="Cambria Math"/>
                        </a:rPr>
                        <m:t>basis</m:t>
                      </m:r>
                      <m:r>
                        <a:rPr lang="en-US" sz="150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500">
                          <a:solidFill>
                            <a:srgbClr val="000000"/>
                          </a:solidFill>
                          <a:latin typeface="Cambria Math"/>
                        </a:rPr>
                        <m:t>on</m:t>
                      </m:r>
                      <m:r>
                        <a:rPr lang="en-US" sz="150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15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ℋ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sz="15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sz="1500"/>
              </a:p>
            </p:txBody>
          </p:sp>
        </mc:Choice>
        <mc:Fallback>
          <p:sp>
            <p:nvSpPr>
              <p:cNvPr id="47" name="EQ_basisold">
                <a:extLst>
                  <a:ext uri="{FF2B5EF4-FFF2-40B4-BE49-F238E27FC236}">
                    <a16:creationId xmlns:a16="http://schemas.microsoft.com/office/drawing/2014/main" id="{2B542561-63BB-4FF7-B651-6E71F54E5A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25" y="1333500"/>
                <a:ext cx="1762125" cy="2857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EQ_basisnew">
                <a:extLst>
                  <a:ext uri="{FF2B5EF4-FFF2-40B4-BE49-F238E27FC236}">
                    <a16:creationId xmlns:a16="http://schemas.microsoft.com/office/drawing/2014/main" id="{6EAFFFC2-6CE0-4AAC-B9B7-9A2AB95448E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505700" y="1333500"/>
                <a:ext cx="1762125" cy="2857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1500">
                          <a:solidFill>
                            <a:srgbClr val="000000"/>
                          </a:solidFill>
                          <a:latin typeface="Cambria Math"/>
                        </a:rPr>
                        <m:t>basis</m:t>
                      </m:r>
                      <m:r>
                        <a:rPr lang="en-US" sz="150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500">
                          <a:solidFill>
                            <a:srgbClr val="000000"/>
                          </a:solidFill>
                          <a:latin typeface="Cambria Math"/>
                        </a:rPr>
                        <m:t>on</m:t>
                      </m:r>
                      <m:r>
                        <a:rPr lang="en-US" sz="150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15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ℋ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sz="1500"/>
              </a:p>
            </p:txBody>
          </p:sp>
        </mc:Choice>
        <mc:Fallback>
          <p:sp>
            <p:nvSpPr>
              <p:cNvPr id="48" name="EQ_basisnew">
                <a:extLst>
                  <a:ext uri="{FF2B5EF4-FFF2-40B4-BE49-F238E27FC236}">
                    <a16:creationId xmlns:a16="http://schemas.microsoft.com/office/drawing/2014/main" id="{6EAFFFC2-6CE0-4AAC-B9B7-9A2AB95448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700" y="1333500"/>
                <a:ext cx="1762125" cy="2857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CURVE_old_constant">
            <a:extLst>
              <a:ext uri="{FF2B5EF4-FFF2-40B4-BE49-F238E27FC236}">
                <a16:creationId xmlns:a16="http://schemas.microsoft.com/office/drawing/2014/main" id="{5B303EFE-6901-47A5-88F1-2C95F0D0EBED}"/>
              </a:ext>
            </a:extLst>
          </p:cNvPr>
          <p:cNvSpPr>
            <a:spLocks noGrp="1"/>
          </p:cNvSpPr>
          <p:nvPr/>
        </p:nvSpPr>
        <p:spPr>
          <a:xfrm>
            <a:off x="5181600" y="1771650"/>
            <a:ext cx="1428750" cy="552450"/>
          </a:xfrm>
          <a:custGeom>
            <a:avLst/>
            <a:gdLst/>
            <a:ahLst/>
            <a:cxnLst/>
            <a:rect l="0" t="0" r="r" b="b"/>
            <a:pathLst>
              <a:path w="150000" h="58000" fill="none" extrusionOk="0">
                <a:moveTo>
                  <a:pt x="0" y="8000"/>
                </a:moveTo>
                <a:lnTo>
                  <a:pt x="150000" y="8000"/>
                </a:lnTo>
              </a:path>
            </a:pathLst>
          </a:custGeom>
          <a:noFill/>
          <a:ln w="13335">
            <a:solidFill>
              <a:srgbClr val="91B3C4"/>
            </a:solidFill>
          </a:ln>
        </p:spPr>
      </p:sp>
      <p:sp>
        <p:nvSpPr>
          <p:cNvPr id="50" name="CURVE_old_linear">
            <a:extLst>
              <a:ext uri="{FF2B5EF4-FFF2-40B4-BE49-F238E27FC236}">
                <a16:creationId xmlns:a16="http://schemas.microsoft.com/office/drawing/2014/main" id="{D9D92A39-0E2D-4E2F-BCB8-AB54CC301C3E}"/>
              </a:ext>
            </a:extLst>
          </p:cNvPr>
          <p:cNvSpPr>
            <a:spLocks noGrp="1"/>
          </p:cNvSpPr>
          <p:nvPr/>
        </p:nvSpPr>
        <p:spPr>
          <a:xfrm>
            <a:off x="5181600" y="1771650"/>
            <a:ext cx="1428750" cy="552450"/>
          </a:xfrm>
          <a:custGeom>
            <a:avLst/>
            <a:gdLst/>
            <a:ahLst/>
            <a:cxnLst/>
            <a:rect l="0" t="0" r="r" b="b"/>
            <a:pathLst>
              <a:path w="150000" h="58000" fill="none" extrusionOk="0">
                <a:moveTo>
                  <a:pt x="0" y="53000"/>
                </a:moveTo>
                <a:lnTo>
                  <a:pt x="150000" y="4000"/>
                </a:lnTo>
              </a:path>
            </a:pathLst>
          </a:custGeom>
          <a:noFill/>
          <a:ln w="14288">
            <a:solidFill>
              <a:srgbClr val="5A91AB"/>
            </a:solidFill>
          </a:ln>
        </p:spPr>
      </p:sp>
      <p:sp>
        <p:nvSpPr>
          <p:cNvPr id="51" name="CURVE_old_quadratic">
            <a:extLst>
              <a:ext uri="{FF2B5EF4-FFF2-40B4-BE49-F238E27FC236}">
                <a16:creationId xmlns:a16="http://schemas.microsoft.com/office/drawing/2014/main" id="{7509213D-2749-47E9-B242-DA6A9247924F}"/>
              </a:ext>
            </a:extLst>
          </p:cNvPr>
          <p:cNvSpPr>
            <a:spLocks noGrp="1"/>
          </p:cNvSpPr>
          <p:nvPr/>
        </p:nvSpPr>
        <p:spPr>
          <a:xfrm>
            <a:off x="5181600" y="1771650"/>
            <a:ext cx="1428750" cy="552450"/>
          </a:xfrm>
          <a:custGeom>
            <a:avLst/>
            <a:gdLst/>
            <a:ahLst/>
            <a:cxnLst/>
            <a:rect l="0" t="0" r="r" b="b"/>
            <a:pathLst>
              <a:path w="150000" h="58000" fill="none" extrusionOk="0">
                <a:moveTo>
                  <a:pt x="0" y="5000"/>
                </a:moveTo>
                <a:quadBezTo>
                  <a:pt x="75000" y="91000"/>
                  <a:pt x="150000" y="5000"/>
                </a:quadBezTo>
              </a:path>
            </a:pathLst>
          </a:custGeom>
          <a:noFill/>
          <a:ln w="15240">
            <a:solidFill>
              <a:srgbClr val="247698"/>
            </a:solidFill>
          </a:ln>
        </p:spPr>
      </p:sp>
      <p:sp>
        <p:nvSpPr>
          <p:cNvPr id="52" name="old horizon">
            <a:extLst>
              <a:ext uri="{FF2B5EF4-FFF2-40B4-BE49-F238E27FC236}">
                <a16:creationId xmlns:a16="http://schemas.microsoft.com/office/drawing/2014/main" id="{6CBCB6F8-09E2-4EF6-862D-F81F19EA0B6C}"/>
              </a:ext>
            </a:extLst>
          </p:cNvPr>
          <p:cNvSpPr>
            <a:spLocks noGrp="1"/>
          </p:cNvSpPr>
          <p:nvPr/>
        </p:nvSpPr>
        <p:spPr>
          <a:xfrm>
            <a:off x="5181600" y="2409825"/>
            <a:ext cx="1428750" cy="14288"/>
          </a:xfrm>
          <a:prstGeom prst="rect">
            <a:avLst/>
          </a:prstGeom>
          <a:solidFill>
            <a:srgbClr val="247698"/>
          </a:solidFill>
          <a:ln w="0">
            <a:solidFill>
              <a:srgbClr val="247698"/>
            </a:solidFill>
          </a:ln>
        </p:spPr>
      </p:sp>
      <p:sp>
        <p:nvSpPr>
          <p:cNvPr id="53" name="old start tick">
            <a:extLst>
              <a:ext uri="{FF2B5EF4-FFF2-40B4-BE49-F238E27FC236}">
                <a16:creationId xmlns:a16="http://schemas.microsoft.com/office/drawing/2014/main" id="{41D14BF9-BEB9-44C3-8F54-E6ADF14226BF}"/>
              </a:ext>
            </a:extLst>
          </p:cNvPr>
          <p:cNvSpPr>
            <a:spLocks noGrp="1"/>
          </p:cNvSpPr>
          <p:nvPr/>
        </p:nvSpPr>
        <p:spPr>
          <a:xfrm>
            <a:off x="5181600" y="2371725"/>
            <a:ext cx="12383" cy="95250"/>
          </a:xfrm>
          <a:prstGeom prst="rect">
            <a:avLst/>
          </a:prstGeom>
          <a:solidFill>
            <a:srgbClr val="657077"/>
          </a:solidFill>
          <a:ln w="0">
            <a:solidFill>
              <a:srgbClr val="657077"/>
            </a:solidFill>
          </a:ln>
        </p:spPr>
      </p:sp>
      <p:sp>
        <p:nvSpPr>
          <p:cNvPr id="54" name="old end tick">
            <a:extLst>
              <a:ext uri="{FF2B5EF4-FFF2-40B4-BE49-F238E27FC236}">
                <a16:creationId xmlns:a16="http://schemas.microsoft.com/office/drawing/2014/main" id="{DD33F027-A806-4578-ACDB-567D1DB5CEF5}"/>
              </a:ext>
            </a:extLst>
          </p:cNvPr>
          <p:cNvSpPr>
            <a:spLocks noGrp="1"/>
          </p:cNvSpPr>
          <p:nvPr/>
        </p:nvSpPr>
        <p:spPr>
          <a:xfrm>
            <a:off x="6610350" y="2371725"/>
            <a:ext cx="12383" cy="95250"/>
          </a:xfrm>
          <a:prstGeom prst="rect">
            <a:avLst/>
          </a:prstGeom>
          <a:solidFill>
            <a:srgbClr val="247698"/>
          </a:solidFill>
          <a:ln w="0">
            <a:solidFill>
              <a:srgbClr val="247698"/>
            </a:solidFill>
          </a:ln>
        </p:spPr>
      </p:sp>
      <p:sp>
        <p:nvSpPr>
          <p:cNvPr id="55" name="CURVE_new_constant">
            <a:extLst>
              <a:ext uri="{FF2B5EF4-FFF2-40B4-BE49-F238E27FC236}">
                <a16:creationId xmlns:a16="http://schemas.microsoft.com/office/drawing/2014/main" id="{5B712BFD-B93D-48BE-B707-895DF9C44E6B}"/>
              </a:ext>
            </a:extLst>
          </p:cNvPr>
          <p:cNvSpPr>
            <a:spLocks noGrp="1"/>
          </p:cNvSpPr>
          <p:nvPr/>
        </p:nvSpPr>
        <p:spPr>
          <a:xfrm>
            <a:off x="7372350" y="1771650"/>
            <a:ext cx="1895475" cy="552450"/>
          </a:xfrm>
          <a:custGeom>
            <a:avLst/>
            <a:gdLst/>
            <a:ahLst/>
            <a:cxnLst/>
            <a:rect l="0" t="0" r="r" b="b"/>
            <a:pathLst>
              <a:path w="199000" h="58000" fill="none" extrusionOk="0">
                <a:moveTo>
                  <a:pt x="0" y="8000"/>
                </a:moveTo>
                <a:lnTo>
                  <a:pt x="199000" y="8000"/>
                </a:lnTo>
              </a:path>
            </a:pathLst>
          </a:custGeom>
          <a:noFill/>
          <a:ln w="13335">
            <a:solidFill>
              <a:srgbClr val="91B3C4"/>
            </a:solidFill>
          </a:ln>
        </p:spPr>
      </p:sp>
      <p:sp>
        <p:nvSpPr>
          <p:cNvPr id="56" name="CURVE_new_linear">
            <a:extLst>
              <a:ext uri="{FF2B5EF4-FFF2-40B4-BE49-F238E27FC236}">
                <a16:creationId xmlns:a16="http://schemas.microsoft.com/office/drawing/2014/main" id="{6B8CC24C-DB45-4540-BBB2-AEC7D1D34800}"/>
              </a:ext>
            </a:extLst>
          </p:cNvPr>
          <p:cNvSpPr>
            <a:spLocks noGrp="1"/>
          </p:cNvSpPr>
          <p:nvPr/>
        </p:nvSpPr>
        <p:spPr>
          <a:xfrm>
            <a:off x="7372350" y="1771650"/>
            <a:ext cx="1895475" cy="552450"/>
          </a:xfrm>
          <a:custGeom>
            <a:avLst/>
            <a:gdLst/>
            <a:ahLst/>
            <a:cxnLst/>
            <a:rect l="0" t="0" r="r" b="b"/>
            <a:pathLst>
              <a:path w="199000" h="58000" fill="none" extrusionOk="0">
                <a:moveTo>
                  <a:pt x="0" y="53000"/>
                </a:moveTo>
                <a:lnTo>
                  <a:pt x="199000" y="4000"/>
                </a:lnTo>
              </a:path>
            </a:pathLst>
          </a:custGeom>
          <a:noFill/>
          <a:ln w="14288">
            <a:solidFill>
              <a:srgbClr val="5A91AB"/>
            </a:solidFill>
          </a:ln>
        </p:spPr>
      </p:sp>
      <p:sp>
        <p:nvSpPr>
          <p:cNvPr id="57" name="CURVE_new_quadratic">
            <a:extLst>
              <a:ext uri="{FF2B5EF4-FFF2-40B4-BE49-F238E27FC236}">
                <a16:creationId xmlns:a16="http://schemas.microsoft.com/office/drawing/2014/main" id="{5F852456-0E33-4D6A-9286-C122DCE93803}"/>
              </a:ext>
            </a:extLst>
          </p:cNvPr>
          <p:cNvSpPr>
            <a:spLocks noGrp="1"/>
          </p:cNvSpPr>
          <p:nvPr/>
        </p:nvSpPr>
        <p:spPr>
          <a:xfrm>
            <a:off x="7372350" y="1771650"/>
            <a:ext cx="1895475" cy="552450"/>
          </a:xfrm>
          <a:custGeom>
            <a:avLst/>
            <a:gdLst/>
            <a:ahLst/>
            <a:cxnLst/>
            <a:rect l="0" t="0" r="r" b="b"/>
            <a:pathLst>
              <a:path w="199000" h="58000" fill="none" extrusionOk="0">
                <a:moveTo>
                  <a:pt x="0" y="5000"/>
                </a:moveTo>
                <a:quadBezTo>
                  <a:pt x="99500" y="91000"/>
                  <a:pt x="199000" y="5000"/>
                </a:quadBezTo>
              </a:path>
            </a:pathLst>
          </a:custGeom>
          <a:noFill/>
          <a:ln w="15240">
            <a:solidFill>
              <a:srgbClr val="247698"/>
            </a:solidFill>
          </a:ln>
        </p:spPr>
      </p:sp>
      <p:sp>
        <p:nvSpPr>
          <p:cNvPr id="58" name="new horizon">
            <a:extLst>
              <a:ext uri="{FF2B5EF4-FFF2-40B4-BE49-F238E27FC236}">
                <a16:creationId xmlns:a16="http://schemas.microsoft.com/office/drawing/2014/main" id="{04EE5F85-5F32-44C4-A976-B96B0F55EDA4}"/>
              </a:ext>
            </a:extLst>
          </p:cNvPr>
          <p:cNvSpPr>
            <a:spLocks noGrp="1"/>
          </p:cNvSpPr>
          <p:nvPr/>
        </p:nvSpPr>
        <p:spPr>
          <a:xfrm>
            <a:off x="7372350" y="2409825"/>
            <a:ext cx="1895475" cy="14288"/>
          </a:xfrm>
          <a:prstGeom prst="rect">
            <a:avLst/>
          </a:prstGeom>
          <a:solidFill>
            <a:srgbClr val="247698"/>
          </a:solidFill>
          <a:ln w="0">
            <a:solidFill>
              <a:srgbClr val="247698"/>
            </a:solidFill>
          </a:ln>
        </p:spPr>
      </p:sp>
      <p:sp>
        <p:nvSpPr>
          <p:cNvPr id="59" name="new start tick">
            <a:extLst>
              <a:ext uri="{FF2B5EF4-FFF2-40B4-BE49-F238E27FC236}">
                <a16:creationId xmlns:a16="http://schemas.microsoft.com/office/drawing/2014/main" id="{68BF8235-8BB7-46CF-97A7-53AB3AE56613}"/>
              </a:ext>
            </a:extLst>
          </p:cNvPr>
          <p:cNvSpPr>
            <a:spLocks noGrp="1"/>
          </p:cNvSpPr>
          <p:nvPr/>
        </p:nvSpPr>
        <p:spPr>
          <a:xfrm>
            <a:off x="7372350" y="2371725"/>
            <a:ext cx="12383" cy="95250"/>
          </a:xfrm>
          <a:prstGeom prst="rect">
            <a:avLst/>
          </a:prstGeom>
          <a:solidFill>
            <a:srgbClr val="657077"/>
          </a:solidFill>
          <a:ln w="0">
            <a:solidFill>
              <a:srgbClr val="657077"/>
            </a:solidFill>
          </a:ln>
        </p:spPr>
      </p:sp>
      <p:sp>
        <p:nvSpPr>
          <p:cNvPr id="60" name="new end tick">
            <a:extLst>
              <a:ext uri="{FF2B5EF4-FFF2-40B4-BE49-F238E27FC236}">
                <a16:creationId xmlns:a16="http://schemas.microsoft.com/office/drawing/2014/main" id="{C10EC71B-1301-4AF5-80B8-D722EC273C7F}"/>
              </a:ext>
            </a:extLst>
          </p:cNvPr>
          <p:cNvSpPr>
            <a:spLocks noGrp="1"/>
          </p:cNvSpPr>
          <p:nvPr/>
        </p:nvSpPr>
        <p:spPr>
          <a:xfrm>
            <a:off x="9267825" y="2371725"/>
            <a:ext cx="12383" cy="95250"/>
          </a:xfrm>
          <a:prstGeom prst="rect">
            <a:avLst/>
          </a:prstGeom>
          <a:solidFill>
            <a:srgbClr val="247698"/>
          </a:solidFill>
          <a:ln w="0">
            <a:solidFill>
              <a:srgbClr val="247698"/>
            </a:solidFill>
          </a:ln>
        </p:spPr>
      </p:sp>
      <p:sp>
        <p:nvSpPr>
          <p:cNvPr id="61" name="basis old group">
            <a:extLst>
              <a:ext uri="{FF2B5EF4-FFF2-40B4-BE49-F238E27FC236}">
                <a16:creationId xmlns:a16="http://schemas.microsoft.com/office/drawing/2014/main" id="{03BB1F5C-DC1B-465D-81E7-6E4AA55452EE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2047875" cy="2286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ctr">
              <a:defRPr sz="1200" b="0">
                <a:solidFill>
                  <a:srgbClr val="6570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77"/>
                </a:solidFill>
                <a:latin typeface="Arial"/>
                <a:ea typeface="Arial"/>
                <a:cs typeface="Arial"/>
              </a:rPr>
              <a:t>ψ₀, ψ₁, ψ₂ on ℋₖ₋₁</a:t>
            </a:r>
          </a:p>
        </p:txBody>
      </p:sp>
      <p:sp>
        <p:nvSpPr>
          <p:cNvPr id="62" name="basis new group">
            <a:extLst>
              <a:ext uri="{FF2B5EF4-FFF2-40B4-BE49-F238E27FC236}">
                <a16:creationId xmlns:a16="http://schemas.microsoft.com/office/drawing/2014/main" id="{54993AB7-DD7F-4864-9EDA-7BECDB3D3A7D}"/>
              </a:ext>
            </a:extLst>
          </p:cNvPr>
          <p:cNvSpPr>
            <a:spLocks noGrp="1"/>
          </p:cNvSpPr>
          <p:nvPr/>
        </p:nvSpPr>
        <p:spPr>
          <a:xfrm>
            <a:off x="7419975" y="2400300"/>
            <a:ext cx="2047875" cy="2286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ctr">
              <a:defRPr sz="1200" b="0">
                <a:solidFill>
                  <a:srgbClr val="6570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77"/>
                </a:solidFill>
                <a:latin typeface="Arial"/>
                <a:ea typeface="Arial"/>
                <a:cs typeface="Arial"/>
              </a:rPr>
              <a:t>ψ₀, ψ₁, ψ₂ on ℋₖ</a:t>
            </a:r>
          </a:p>
        </p:txBody>
      </p:sp>
      <p:sp>
        <p:nvSpPr>
          <p:cNvPr id="63" name="functional distinction">
            <a:extLst>
              <a:ext uri="{FF2B5EF4-FFF2-40B4-BE49-F238E27FC236}">
                <a16:creationId xmlns:a16="http://schemas.microsoft.com/office/drawing/2014/main" id="{A809F23C-B316-4ACF-8575-08F0AD715CCA}"/>
              </a:ext>
            </a:extLst>
          </p:cNvPr>
          <p:cNvSpPr>
            <a:spLocks noGrp="1"/>
          </p:cNvSpPr>
          <p:nvPr/>
        </p:nvSpPr>
        <p:spPr>
          <a:xfrm>
            <a:off x="4933950" y="2647950"/>
            <a:ext cx="4429125" cy="2667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ctr">
              <a:defRPr sz="1425" b="0">
                <a:solidFill>
                  <a:srgbClr val="6570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77"/>
                </a:solidFill>
                <a:latin typeface="Arial"/>
                <a:ea typeface="Arial"/>
                <a:cs typeface="Arial"/>
              </a:rPr>
              <a:t>Same dimension ≠ same GP functionals</a:t>
            </a:r>
          </a:p>
        </p:txBody>
      </p:sp>
      <p:sp>
        <p:nvSpPr>
          <p:cNvPr id="64" name="conditional projection">
            <a:extLst>
              <a:ext uri="{FF2B5EF4-FFF2-40B4-BE49-F238E27FC236}">
                <a16:creationId xmlns:a16="http://schemas.microsoft.com/office/drawing/2014/main" id="{8E855E7E-60B2-419E-8F7B-9DB3E4BE65CA}"/>
              </a:ext>
            </a:extLst>
          </p:cNvPr>
          <p:cNvSpPr>
            <a:spLocks noGrp="1"/>
          </p:cNvSpPr>
          <p:nvPr/>
        </p:nvSpPr>
        <p:spPr>
          <a:xfrm>
            <a:off x="5105400" y="3000375"/>
            <a:ext cx="4095750" cy="27622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24769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7698"/>
                </a:solidFill>
                <a:latin typeface="Arial"/>
                <a:ea typeface="Arial"/>
                <a:cs typeface="Arial"/>
              </a:rPr>
              <a:t>Conditional projection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EQ_projection">
                <a:extLst>
                  <a:ext uri="{FF2B5EF4-FFF2-40B4-BE49-F238E27FC236}">
                    <a16:creationId xmlns:a16="http://schemas.microsoft.com/office/drawing/2014/main" id="{7697BDF0-1500-473F-9381-1708C114BF6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981575" y="3314700"/>
                <a:ext cx="4333875" cy="4095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195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r>
                        <a:rPr lang="en-US" sz="1950">
                          <a:solidFill>
                            <a:srgbClr val="000000"/>
                          </a:solidFill>
                          <a:latin typeface="Cambria Math"/>
                        </a:rPr>
                        <m:t>[</m:t>
                      </m:r>
                      <m:sSub>
                        <m:sSubPr>
                          <m:ctrlP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1950">
                          <a:solidFill>
                            <a:srgbClr val="000000"/>
                          </a:solidFill>
                          <a:latin typeface="Cambria Math"/>
                        </a:rPr>
                        <m:t> | </m:t>
                      </m:r>
                      <m:sSub>
                        <m:sSubPr>
                          <m:ctrlP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1950">
                          <a:solidFill>
                            <a:srgbClr val="000000"/>
                          </a:solidFill>
                          <a:latin typeface="Cambria Math"/>
                        </a:rPr>
                        <m:t>] = </m:t>
                      </m:r>
                      <m:sSub>
                        <m:sSubPr>
                          <m:ctrlP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−1,</m:t>
                          </m:r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sz="1950"/>
              </a:p>
            </p:txBody>
          </p:sp>
        </mc:Choice>
        <mc:Fallback>
          <p:sp>
            <p:nvSpPr>
              <p:cNvPr id="65" name="EQ_projection">
                <a:extLst>
                  <a:ext uri="{FF2B5EF4-FFF2-40B4-BE49-F238E27FC236}">
                    <a16:creationId xmlns:a16="http://schemas.microsoft.com/office/drawing/2014/main" id="{7697BDF0-1500-473F-9381-1708C114BF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575" y="3314700"/>
                <a:ext cx="4333875" cy="409575"/>
              </a:xfrm>
              <a:prstGeom prst="rect">
                <a:avLst/>
              </a:prstGeom>
              <a:blipFill>
                <a:blip r:embed="rId10"/>
                <a:stretch>
                  <a:fillRect b="-11940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ransport label">
            <a:extLst>
              <a:ext uri="{FF2B5EF4-FFF2-40B4-BE49-F238E27FC236}">
                <a16:creationId xmlns:a16="http://schemas.microsoft.com/office/drawing/2014/main" id="{4E41BF9E-7F9E-4383-BA07-3720350042AE}"/>
              </a:ext>
            </a:extLst>
          </p:cNvPr>
          <p:cNvSpPr>
            <a:spLocks noGrp="1"/>
          </p:cNvSpPr>
          <p:nvPr/>
        </p:nvSpPr>
        <p:spPr>
          <a:xfrm>
            <a:off x="5105400" y="3790950"/>
            <a:ext cx="4095750" cy="2476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ctr">
              <a:defRPr sz="1425" b="0">
                <a:solidFill>
                  <a:srgbClr val="24769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7698"/>
                </a:solidFill>
                <a:latin typeface="Arial"/>
                <a:ea typeface="Arial"/>
                <a:cs typeface="Arial"/>
              </a:rPr>
              <a:t>Likelihood transport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EQ_transport_R">
                <a:extLst>
                  <a:ext uri="{FF2B5EF4-FFF2-40B4-BE49-F238E27FC236}">
                    <a16:creationId xmlns:a16="http://schemas.microsoft.com/office/drawing/2014/main" id="{31D5EECD-0112-46DF-9631-5EF3D9B8BFF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200650" y="4067175"/>
                <a:ext cx="3914775" cy="4000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sSubSupPr>
                          <m:ctrlP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  <m:sup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</m:sup>
                      </m:sSubSup>
                      <m:r>
                        <a:rPr lang="en-US" sz="1950">
                          <a:solidFill>
                            <a:srgbClr val="000000"/>
                          </a:solidFill>
                          <a:latin typeface="Cambria Math"/>
                        </a:rPr>
                        <m:t> = </m:t>
                      </m:r>
                      <m:sSup>
                        <m:sSupPr>
                          <m:ctrlP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𝑀</m:t>
                          </m:r>
                        </m:e>
                        <m:sup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⊤</m:t>
                          </m:r>
                        </m:sup>
                      </m:sSup>
                      <m:sSub>
                        <m:sSubPr>
                          <m:ctrlP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1950">
                          <a:solidFill>
                            <a:srgbClr val="000000"/>
                          </a:solidFill>
                          <a:latin typeface="Cambria Math"/>
                        </a:rPr>
                        <m:t>𝑀</m:t>
                      </m:r>
                    </m:oMath>
                  </m:oMathPara>
                </a14:m>
                <a:endParaRPr sz="1950"/>
              </a:p>
            </p:txBody>
          </p:sp>
        </mc:Choice>
        <mc:Fallback>
          <p:sp>
            <p:nvSpPr>
              <p:cNvPr id="67" name="EQ_transport_R">
                <a:extLst>
                  <a:ext uri="{FF2B5EF4-FFF2-40B4-BE49-F238E27FC236}">
                    <a16:creationId xmlns:a16="http://schemas.microsoft.com/office/drawing/2014/main" id="{31D5EECD-0112-46DF-9631-5EF3D9B8BF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650" y="4067175"/>
                <a:ext cx="3914775" cy="400050"/>
              </a:xfrm>
              <a:prstGeom prst="rect">
                <a:avLst/>
              </a:prstGeom>
              <a:blipFill>
                <a:blip r:embed="rId11"/>
                <a:stretch>
                  <a:fillRect b="-3030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EQ_transport_r">
                <a:extLst>
                  <a:ext uri="{FF2B5EF4-FFF2-40B4-BE49-F238E27FC236}">
                    <a16:creationId xmlns:a16="http://schemas.microsoft.com/office/drawing/2014/main" id="{09C8668E-FD8C-4750-9457-45D3AE1B5E8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200650" y="4476750"/>
                <a:ext cx="3914775" cy="4000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sSubSupPr>
                          <m:ctrlP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  <m:sup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</m:sup>
                      </m:sSubSup>
                      <m:r>
                        <a:rPr lang="en-US" sz="1950">
                          <a:solidFill>
                            <a:srgbClr val="000000"/>
                          </a:solidFill>
                          <a:latin typeface="Cambria Math"/>
                        </a:rPr>
                        <m:t> = </m:t>
                      </m:r>
                      <m:sSup>
                        <m:sSupPr>
                          <m:ctrlP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𝑀</m:t>
                          </m:r>
                        </m:e>
                        <m:sup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⊤</m:t>
                          </m:r>
                        </m:sup>
                      </m:sSup>
                      <m:sSub>
                        <m:sSubPr>
                          <m:ctrlP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sz="195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sz="1950"/>
              </a:p>
            </p:txBody>
          </p:sp>
        </mc:Choice>
        <mc:Fallback>
          <p:sp>
            <p:nvSpPr>
              <p:cNvPr id="68" name="EQ_transport_r">
                <a:extLst>
                  <a:ext uri="{FF2B5EF4-FFF2-40B4-BE49-F238E27FC236}">
                    <a16:creationId xmlns:a16="http://schemas.microsoft.com/office/drawing/2014/main" id="{09C8668E-FD8C-4750-9457-45D3AE1B5E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650" y="4476750"/>
                <a:ext cx="3914775" cy="400050"/>
              </a:xfrm>
              <a:prstGeom prst="rect">
                <a:avLst/>
              </a:prstGeom>
              <a:blipFill>
                <a:blip r:embed="rId12"/>
                <a:stretch>
                  <a:fillRect b="-3030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evidence meaning">
            <a:extLst>
              <a:ext uri="{FF2B5EF4-FFF2-40B4-BE49-F238E27FC236}">
                <a16:creationId xmlns:a16="http://schemas.microsoft.com/office/drawing/2014/main" id="{24FF08D9-D72E-4D0B-A2A4-DBDB9B0EDB73}"/>
              </a:ext>
            </a:extLst>
          </p:cNvPr>
          <p:cNvSpPr>
            <a:spLocks noGrp="1"/>
          </p:cNvSpPr>
          <p:nvPr/>
        </p:nvSpPr>
        <p:spPr>
          <a:xfrm>
            <a:off x="5000625" y="5029200"/>
            <a:ext cx="4295775" cy="5238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72D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D40"/>
                </a:solidFill>
                <a:latin typeface="Arial"/>
                <a:ea typeface="Arial"/>
                <a:cs typeface="Arial"/>
              </a:rPr>
              <a:t>Transport likelihood evidence,</a:t>
            </a:r>
          </a:p>
          <a:p>
            <a:pPr algn="ctr">
              <a:defRPr sz="1650" b="1">
                <a:solidFill>
                  <a:srgbClr val="172D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D40"/>
                </a:solidFill>
                <a:latin typeface="Arial"/>
                <a:ea typeface="Arial"/>
                <a:cs typeface="Arial"/>
              </a:rPr>
              <a:t>not latent states.</a:t>
            </a:r>
          </a:p>
        </p:txBody>
      </p:sp>
      <p:sp>
        <p:nvSpPr>
          <p:cNvPr id="70" name="loss note">
            <a:extLst>
              <a:ext uri="{FF2B5EF4-FFF2-40B4-BE49-F238E27FC236}">
                <a16:creationId xmlns:a16="http://schemas.microsoft.com/office/drawing/2014/main" id="{775E97BD-65CA-4349-8066-444DC4F4FD2C}"/>
              </a:ext>
            </a:extLst>
          </p:cNvPr>
          <p:cNvSpPr>
            <a:spLocks noGrp="1"/>
          </p:cNvSpPr>
          <p:nvPr/>
        </p:nvSpPr>
        <p:spPr>
          <a:xfrm>
            <a:off x="5010150" y="5734050"/>
            <a:ext cx="4286250" cy="4000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ctr">
              <a:defRPr sz="1350" b="0">
                <a:solidFill>
                  <a:srgbClr val="65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77"/>
                </a:solidFill>
                <a:latin typeface="Arial"/>
                <a:ea typeface="Arial"/>
                <a:cs typeface="Arial"/>
              </a:rPr>
              <a:t>L²-optimal finite projection;</a:t>
            </a:r>
          </a:p>
          <a:p>
            <a:pPr algn="ctr">
              <a:defRPr sz="1350" b="0">
                <a:solidFill>
                  <a:srgbClr val="65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77"/>
                </a:solidFill>
                <a:latin typeface="Arial"/>
                <a:ea typeface="Arial"/>
                <a:cs typeface="Arial"/>
              </a:rPr>
              <a:t>not generally lossless.</a:t>
            </a:r>
          </a:p>
        </p:txBody>
      </p:sp>
      <p:sp>
        <p:nvSpPr>
          <p:cNvPr id="71" name="invariant label">
            <a:extLst>
              <a:ext uri="{FF2B5EF4-FFF2-40B4-BE49-F238E27FC236}">
                <a16:creationId xmlns:a16="http://schemas.microsoft.com/office/drawing/2014/main" id="{C9A5B57C-371A-4902-8EE6-3005BC155980}"/>
              </a:ext>
            </a:extLst>
          </p:cNvPr>
          <p:cNvSpPr>
            <a:spLocks noGrp="1"/>
          </p:cNvSpPr>
          <p:nvPr/>
        </p:nvSpPr>
        <p:spPr>
          <a:xfrm>
            <a:off x="9753600" y="876300"/>
            <a:ext cx="4295775" cy="2667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176A5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A59"/>
                </a:solidFill>
                <a:latin typeface="Arial"/>
                <a:ea typeface="Arial"/>
                <a:cs typeface="Arial"/>
              </a:rPr>
              <a:t>Single-Kronecker likelihood factor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EQ_invariant">
                <a:extLst>
                  <a:ext uri="{FF2B5EF4-FFF2-40B4-BE49-F238E27FC236}">
                    <a16:creationId xmlns:a16="http://schemas.microsoft.com/office/drawing/2014/main" id="{A82E739B-60E7-4855-86B7-9B1920418C9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48875" y="1200150"/>
                <a:ext cx="3714750" cy="4286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𝑢𝑢</m:t>
                          </m:r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100">
                          <a:solidFill>
                            <a:srgbClr val="000000"/>
                          </a:solidFill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100">
                          <a:solidFill>
                            <a:srgbClr val="000000"/>
                          </a:solidFill>
                          <a:latin typeface="Cambria Math"/>
                        </a:rPr>
                        <m:t> ⊗ </m:t>
                      </m:r>
                      <m:r>
                        <a:rPr lang="en-US" sz="2100">
                          <a:solidFill>
                            <a:srgbClr val="000000"/>
                          </a:solidFill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sz="2100"/>
              </a:p>
            </p:txBody>
          </p:sp>
        </mc:Choice>
        <mc:Fallback>
          <p:sp>
            <p:nvSpPr>
              <p:cNvPr id="72" name="EQ_invariant">
                <a:extLst>
                  <a:ext uri="{FF2B5EF4-FFF2-40B4-BE49-F238E27FC236}">
                    <a16:creationId xmlns:a16="http://schemas.microsoft.com/office/drawing/2014/main" id="{A82E739B-60E7-4855-86B7-9B1920418C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875" y="1200150"/>
                <a:ext cx="3714750" cy="428625"/>
              </a:xfrm>
              <a:prstGeom prst="rect">
                <a:avLst/>
              </a:prstGeom>
              <a:blipFill>
                <a:blip r:embed="rId13"/>
                <a:stretch>
                  <a:fillRect b="-7143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dense icon">
            <a:extLst>
              <a:ext uri="{FF2B5EF4-FFF2-40B4-BE49-F238E27FC236}">
                <a16:creationId xmlns:a16="http://schemas.microsoft.com/office/drawing/2014/main" id="{31C0E7F7-8FE7-4F76-ABAA-7B27BA8D8F53}"/>
              </a:ext>
            </a:extLst>
          </p:cNvPr>
          <p:cNvSpPr>
            <a:spLocks noGrp="1"/>
          </p:cNvSpPr>
          <p:nvPr/>
        </p:nvSpPr>
        <p:spPr>
          <a:xfrm>
            <a:off x="9848850" y="1752600"/>
            <a:ext cx="523875" cy="523875"/>
          </a:xfrm>
          <a:prstGeom prst="rect">
            <a:avLst/>
          </a:prstGeom>
          <a:noFill/>
          <a:ln w="9525">
            <a:solidFill>
              <a:srgbClr val="A9B1B5"/>
            </a:solidFill>
          </a:ln>
        </p:spPr>
      </p:sp>
      <p:sp>
        <p:nvSpPr>
          <p:cNvPr id="74" name="dense row 0">
            <a:extLst>
              <a:ext uri="{FF2B5EF4-FFF2-40B4-BE49-F238E27FC236}">
                <a16:creationId xmlns:a16="http://schemas.microsoft.com/office/drawing/2014/main" id="{DEAA6A3F-EA25-4BE6-BF5F-31603A442100}"/>
              </a:ext>
            </a:extLst>
          </p:cNvPr>
          <p:cNvSpPr>
            <a:spLocks noGrp="1"/>
          </p:cNvSpPr>
          <p:nvPr/>
        </p:nvSpPr>
        <p:spPr>
          <a:xfrm>
            <a:off x="9906000" y="1809750"/>
            <a:ext cx="409575" cy="57150"/>
          </a:xfrm>
          <a:prstGeom prst="rect">
            <a:avLst/>
          </a:prstGeom>
          <a:solidFill>
            <a:srgbClr val="A9B1B5"/>
          </a:solidFill>
          <a:ln w="0">
            <a:solidFill>
              <a:srgbClr val="A9B1B5"/>
            </a:solidFill>
          </a:ln>
        </p:spPr>
      </p:sp>
      <p:sp>
        <p:nvSpPr>
          <p:cNvPr id="75" name="dense row 1">
            <a:extLst>
              <a:ext uri="{FF2B5EF4-FFF2-40B4-BE49-F238E27FC236}">
                <a16:creationId xmlns:a16="http://schemas.microsoft.com/office/drawing/2014/main" id="{0DD0F86F-CC0F-4EA1-BD04-55A8B5A75C57}"/>
              </a:ext>
            </a:extLst>
          </p:cNvPr>
          <p:cNvSpPr>
            <a:spLocks noGrp="1"/>
          </p:cNvSpPr>
          <p:nvPr/>
        </p:nvSpPr>
        <p:spPr>
          <a:xfrm>
            <a:off x="9906000" y="1914525"/>
            <a:ext cx="409575" cy="57150"/>
          </a:xfrm>
          <a:prstGeom prst="rect">
            <a:avLst/>
          </a:prstGeom>
          <a:solidFill>
            <a:srgbClr val="A9B1B5"/>
          </a:solidFill>
          <a:ln w="0">
            <a:solidFill>
              <a:srgbClr val="A9B1B5"/>
            </a:solidFill>
          </a:ln>
        </p:spPr>
      </p:sp>
      <p:sp>
        <p:nvSpPr>
          <p:cNvPr id="76" name="dense row 2">
            <a:extLst>
              <a:ext uri="{FF2B5EF4-FFF2-40B4-BE49-F238E27FC236}">
                <a16:creationId xmlns:a16="http://schemas.microsoft.com/office/drawing/2014/main" id="{284E8767-91DF-485E-AE40-455E5193151A}"/>
              </a:ext>
            </a:extLst>
          </p:cNvPr>
          <p:cNvSpPr>
            <a:spLocks noGrp="1"/>
          </p:cNvSpPr>
          <p:nvPr/>
        </p:nvSpPr>
        <p:spPr>
          <a:xfrm>
            <a:off x="9906000" y="2019300"/>
            <a:ext cx="409575" cy="57150"/>
          </a:xfrm>
          <a:prstGeom prst="rect">
            <a:avLst/>
          </a:prstGeom>
          <a:solidFill>
            <a:srgbClr val="A9B1B5"/>
          </a:solidFill>
          <a:ln w="0">
            <a:solidFill>
              <a:srgbClr val="A9B1B5"/>
            </a:solidFill>
          </a:ln>
        </p:spPr>
      </p:sp>
      <p:sp>
        <p:nvSpPr>
          <p:cNvPr id="77" name="dense row 3">
            <a:extLst>
              <a:ext uri="{FF2B5EF4-FFF2-40B4-BE49-F238E27FC236}">
                <a16:creationId xmlns:a16="http://schemas.microsoft.com/office/drawing/2014/main" id="{E641C07C-862F-4811-80C9-DB43F40232EA}"/>
              </a:ext>
            </a:extLst>
          </p:cNvPr>
          <p:cNvSpPr>
            <a:spLocks noGrp="1"/>
          </p:cNvSpPr>
          <p:nvPr/>
        </p:nvSpPr>
        <p:spPr>
          <a:xfrm>
            <a:off x="9906000" y="2124075"/>
            <a:ext cx="409575" cy="57150"/>
          </a:xfrm>
          <a:prstGeom prst="rect">
            <a:avLst/>
          </a:prstGeom>
          <a:solidFill>
            <a:srgbClr val="A9B1B5"/>
          </a:solidFill>
          <a:ln w="0">
            <a:solidFill>
              <a:srgbClr val="A9B1B5"/>
            </a:solidFill>
          </a:ln>
        </p:spPr>
      </p:sp>
      <p:sp>
        <p:nvSpPr>
          <p:cNvPr id="78" name="dense label">
            <a:extLst>
              <a:ext uri="{FF2B5EF4-FFF2-40B4-BE49-F238E27FC236}">
                <a16:creationId xmlns:a16="http://schemas.microsoft.com/office/drawing/2014/main" id="{F831A679-F2B8-4CBD-8D48-ACA902811604}"/>
              </a:ext>
            </a:extLst>
          </p:cNvPr>
          <p:cNvSpPr>
            <a:spLocks noGrp="1"/>
          </p:cNvSpPr>
          <p:nvPr/>
        </p:nvSpPr>
        <p:spPr>
          <a:xfrm>
            <a:off x="9696450" y="2305050"/>
            <a:ext cx="838200" cy="2095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ctr">
              <a:defRPr sz="975" b="0">
                <a:solidFill>
                  <a:srgbClr val="6570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077"/>
                </a:solidFill>
                <a:latin typeface="Arial"/>
                <a:ea typeface="Arial"/>
                <a:cs typeface="Arial"/>
              </a:rPr>
              <a:t>dense product state</a:t>
            </a:r>
          </a:p>
        </p:txBody>
      </p:sp>
      <p:sp>
        <p:nvSpPr>
          <p:cNvPr id="79" name="dense strike">
            <a:extLst>
              <a:ext uri="{FF2B5EF4-FFF2-40B4-BE49-F238E27FC236}">
                <a16:creationId xmlns:a16="http://schemas.microsoft.com/office/drawing/2014/main" id="{4C5393DD-45E8-473D-93A6-CA58A57AA0F7}"/>
              </a:ext>
            </a:extLst>
          </p:cNvPr>
          <p:cNvSpPr>
            <a:spLocks noGrp="1"/>
          </p:cNvSpPr>
          <p:nvPr/>
        </p:nvSpPr>
        <p:spPr>
          <a:xfrm>
            <a:off x="9810750" y="1685925"/>
            <a:ext cx="609600" cy="6572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80" name="factor cue">
            <a:extLst>
              <a:ext uri="{FF2B5EF4-FFF2-40B4-BE49-F238E27FC236}">
                <a16:creationId xmlns:a16="http://schemas.microsoft.com/office/drawing/2014/main" id="{90BCEE90-582A-46D4-BFAC-24A59BEECDBC}"/>
              </a:ext>
            </a:extLst>
          </p:cNvPr>
          <p:cNvSpPr>
            <a:spLocks noGrp="1"/>
          </p:cNvSpPr>
          <p:nvPr/>
        </p:nvSpPr>
        <p:spPr>
          <a:xfrm>
            <a:off x="10572750" y="1943100"/>
            <a:ext cx="266700" cy="95250"/>
          </a:xfrm>
          <a:prstGeom prst="rightArrow">
            <a:avLst/>
          </a:prstGeom>
          <a:solidFill>
            <a:srgbClr val="657077"/>
          </a:solidFill>
          <a:ln w="0">
            <a:noFill/>
          </a:ln>
        </p:spPr>
      </p:sp>
      <p:sp>
        <p:nvSpPr>
          <p:cNvPr id="81" name="B factor">
            <a:extLst>
              <a:ext uri="{FF2B5EF4-FFF2-40B4-BE49-F238E27FC236}">
                <a16:creationId xmlns:a16="http://schemas.microsoft.com/office/drawing/2014/main" id="{E35A8148-A2C9-498C-BA36-F7CCC188E9B2}"/>
              </a:ext>
            </a:extLst>
          </p:cNvPr>
          <p:cNvSpPr>
            <a:spLocks noGrp="1"/>
          </p:cNvSpPr>
          <p:nvPr/>
        </p:nvSpPr>
        <p:spPr>
          <a:xfrm>
            <a:off x="10972800" y="1752600"/>
            <a:ext cx="266700" cy="523875"/>
          </a:xfrm>
          <a:prstGeom prst="rect">
            <a:avLst/>
          </a:prstGeom>
          <a:noFill/>
          <a:ln w="9525">
            <a:solidFill>
              <a:srgbClr val="087E79"/>
            </a:solidFill>
          </a:ln>
        </p:spPr>
      </p:sp>
      <p:sp>
        <p:nvSpPr>
          <p:cNvPr id="82" name="G factor">
            <a:extLst>
              <a:ext uri="{FF2B5EF4-FFF2-40B4-BE49-F238E27FC236}">
                <a16:creationId xmlns:a16="http://schemas.microsoft.com/office/drawing/2014/main" id="{067D2A46-B75A-4EFE-9CA2-A93CFDFCEB25}"/>
              </a:ext>
            </a:extLst>
          </p:cNvPr>
          <p:cNvSpPr>
            <a:spLocks noGrp="1"/>
          </p:cNvSpPr>
          <p:nvPr/>
        </p:nvSpPr>
        <p:spPr>
          <a:xfrm>
            <a:off x="11353800" y="1752600"/>
            <a:ext cx="266700" cy="523875"/>
          </a:xfrm>
          <a:prstGeom prst="rect">
            <a:avLst/>
          </a:prstGeom>
          <a:noFill/>
          <a:ln w="9525">
            <a:solidFill>
              <a:srgbClr val="087E79"/>
            </a:solidFill>
          </a:ln>
        </p:spPr>
      </p:sp>
      <p:sp>
        <p:nvSpPr>
          <p:cNvPr id="83" name="tensor label">
            <a:extLst>
              <a:ext uri="{FF2B5EF4-FFF2-40B4-BE49-F238E27FC236}">
                <a16:creationId xmlns:a16="http://schemas.microsoft.com/office/drawing/2014/main" id="{A680775D-901C-4E06-A530-EBA0467E3F94}"/>
              </a:ext>
            </a:extLst>
          </p:cNvPr>
          <p:cNvSpPr>
            <a:spLocks noGrp="1"/>
          </p:cNvSpPr>
          <p:nvPr/>
        </p:nvSpPr>
        <p:spPr>
          <a:xfrm>
            <a:off x="10848975" y="2305050"/>
            <a:ext cx="828675" cy="2095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Bₖ  ⊗  G</a:t>
            </a:r>
          </a:p>
        </p:txBody>
      </p:sp>
      <p:sp>
        <p:nvSpPr>
          <p:cNvPr id="84" name="add prior arrow">
            <a:extLst>
              <a:ext uri="{FF2B5EF4-FFF2-40B4-BE49-F238E27FC236}">
                <a16:creationId xmlns:a16="http://schemas.microsoft.com/office/drawing/2014/main" id="{4387F374-30DF-42DF-9134-7207F78171AD}"/>
              </a:ext>
            </a:extLst>
          </p:cNvPr>
          <p:cNvSpPr>
            <a:spLocks noGrp="1"/>
          </p:cNvSpPr>
          <p:nvPr/>
        </p:nvSpPr>
        <p:spPr>
          <a:xfrm>
            <a:off x="11839575" y="2552700"/>
            <a:ext cx="114300" cy="171450"/>
          </a:xfrm>
          <a:prstGeom prst="downArrow">
            <a:avLst/>
          </a:prstGeom>
          <a:solidFill>
            <a:srgbClr val="657077"/>
          </a:solidFill>
          <a:ln w="0"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EQ_posterior">
                <a:extLst>
                  <a:ext uri="{FF2B5EF4-FFF2-40B4-BE49-F238E27FC236}">
                    <a16:creationId xmlns:a16="http://schemas.microsoft.com/office/drawing/2014/main" id="{78165F8A-2C03-40A7-881A-60FDABE69EB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601200" y="2819400"/>
                <a:ext cx="4610100" cy="5238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8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8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18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sz="1875">
                          <a:solidFill>
                            <a:srgbClr val="000000"/>
                          </a:solidFill>
                          <a:latin typeface="Cambria Math"/>
                        </a:rPr>
                        <m:t> = </m:t>
                      </m:r>
                      <m:sSubSup>
                        <m:sSubSupPr>
                          <m:ctrlPr>
                            <a:rPr lang="en-US" sz="18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8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sz="18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8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18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  <m:sup>
                          <m:r>
                            <a:rPr lang="en-US" sz="18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bSup>
                      <m:r>
                        <a:rPr lang="en-US" sz="1875">
                          <a:solidFill>
                            <a:srgbClr val="000000"/>
                          </a:solidFill>
                          <a:latin typeface="Cambria Math"/>
                        </a:rPr>
                        <m:t> ⊗ </m:t>
                      </m:r>
                      <m:sSubSup>
                        <m:sSubSupPr>
                          <m:ctrlPr>
                            <a:rPr lang="en-US" sz="18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8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sz="18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𝑠</m:t>
                          </m:r>
                        </m:sub>
                        <m:sup>
                          <m:r>
                            <a:rPr lang="en-US" sz="18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bSup>
                      <m:r>
                        <a:rPr lang="en-US" sz="1875">
                          <a:solidFill>
                            <a:srgbClr val="000000"/>
                          </a:solidFill>
                          <a:latin typeface="Cambria Math"/>
                        </a:rPr>
                        <m:t> + </m:t>
                      </m:r>
                      <m:sSub>
                        <m:sSubPr>
                          <m:ctrlPr>
                            <a:rPr lang="en-US" sz="18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8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sz="18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1875">
                          <a:solidFill>
                            <a:srgbClr val="000000"/>
                          </a:solidFill>
                          <a:latin typeface="Cambria Math"/>
                        </a:rPr>
                        <m:t> ⊗ </m:t>
                      </m:r>
                      <m:r>
                        <a:rPr lang="en-US" sz="1875">
                          <a:solidFill>
                            <a:srgbClr val="000000"/>
                          </a:solidFill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sz="1875"/>
              </a:p>
            </p:txBody>
          </p:sp>
        </mc:Choice>
        <mc:Fallback>
          <p:sp>
            <p:nvSpPr>
              <p:cNvPr id="85" name="EQ_posterior">
                <a:extLst>
                  <a:ext uri="{FF2B5EF4-FFF2-40B4-BE49-F238E27FC236}">
                    <a16:creationId xmlns:a16="http://schemas.microsoft.com/office/drawing/2014/main" id="{78165F8A-2C03-40A7-881A-60FDABE69E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0" y="2819400"/>
                <a:ext cx="4610100" cy="5238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prior hint">
            <a:extLst>
              <a:ext uri="{FF2B5EF4-FFF2-40B4-BE49-F238E27FC236}">
                <a16:creationId xmlns:a16="http://schemas.microsoft.com/office/drawing/2014/main" id="{B7DF7638-6A34-46A2-A33A-37CC10C55C50}"/>
              </a:ext>
            </a:extLst>
          </p:cNvPr>
          <p:cNvSpPr>
            <a:spLocks noGrp="1"/>
          </p:cNvSpPr>
          <p:nvPr/>
        </p:nvSpPr>
        <p:spPr>
          <a:xfrm>
            <a:off x="9810750" y="3371850"/>
            <a:ext cx="4152900" cy="23812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ctr">
              <a:defRPr sz="1350" b="0">
                <a:solidFill>
                  <a:srgbClr val="65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77"/>
                </a:solidFill>
                <a:latin typeface="Arial"/>
                <a:ea typeface="Arial"/>
                <a:cs typeface="Arial"/>
              </a:rPr>
              <a:t>prior + transported likelihood</a:t>
            </a:r>
          </a:p>
        </p:txBody>
      </p:sp>
      <p:sp>
        <p:nvSpPr>
          <p:cNvPr id="87" name="solver arrow">
            <a:extLst>
              <a:ext uri="{FF2B5EF4-FFF2-40B4-BE49-F238E27FC236}">
                <a16:creationId xmlns:a16="http://schemas.microsoft.com/office/drawing/2014/main" id="{B23B79CA-3576-462E-B30E-BDA96FB2D486}"/>
              </a:ext>
            </a:extLst>
          </p:cNvPr>
          <p:cNvSpPr>
            <a:spLocks noGrp="1"/>
          </p:cNvSpPr>
          <p:nvPr/>
        </p:nvSpPr>
        <p:spPr>
          <a:xfrm>
            <a:off x="11839575" y="3667125"/>
            <a:ext cx="114300" cy="171450"/>
          </a:xfrm>
          <a:prstGeom prst="downArrow">
            <a:avLst/>
          </a:prstGeom>
          <a:solidFill>
            <a:srgbClr val="657077"/>
          </a:solidFill>
          <a:ln w="0">
            <a:noFill/>
          </a:ln>
        </p:spPr>
      </p:sp>
      <p:sp>
        <p:nvSpPr>
          <p:cNvPr id="88" name="solver box">
            <a:extLst>
              <a:ext uri="{FF2B5EF4-FFF2-40B4-BE49-F238E27FC236}">
                <a16:creationId xmlns:a16="http://schemas.microsoft.com/office/drawing/2014/main" id="{B0D54300-BC1A-4775-A8F9-1176099BA0FB}"/>
              </a:ext>
            </a:extLst>
          </p:cNvPr>
          <p:cNvSpPr>
            <a:spLocks noGrp="1"/>
          </p:cNvSpPr>
          <p:nvPr/>
        </p:nvSpPr>
        <p:spPr>
          <a:xfrm>
            <a:off x="10382250" y="3943350"/>
            <a:ext cx="3038475" cy="409575"/>
          </a:xfrm>
          <a:prstGeom prst="rect">
            <a:avLst/>
          </a:prstGeom>
          <a:noFill/>
          <a:ln w="9525">
            <a:solidFill>
              <a:srgbClr val="176A59"/>
            </a:solidFill>
          </a:ln>
        </p:spPr>
      </p:sp>
      <p:sp>
        <p:nvSpPr>
          <p:cNvPr id="89" name="solver">
            <a:extLst>
              <a:ext uri="{FF2B5EF4-FFF2-40B4-BE49-F238E27FC236}">
                <a16:creationId xmlns:a16="http://schemas.microsoft.com/office/drawing/2014/main" id="{08547489-E898-4A83-B5AD-4577980B7631}"/>
              </a:ext>
            </a:extLst>
          </p:cNvPr>
          <p:cNvSpPr>
            <a:spLocks noGrp="1"/>
          </p:cNvSpPr>
          <p:nvPr/>
        </p:nvSpPr>
        <p:spPr>
          <a:xfrm>
            <a:off x="10439400" y="3981450"/>
            <a:ext cx="2943225" cy="3238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176A5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A59"/>
                </a:solidFill>
                <a:latin typeface="Arial"/>
                <a:ea typeface="Arial"/>
                <a:cs typeface="Arial"/>
              </a:rPr>
              <a:t>Schur + Sylvester</a:t>
            </a:r>
          </a:p>
        </p:txBody>
      </p:sp>
      <p:sp>
        <p:nvSpPr>
          <p:cNvPr id="90" name="posterior output">
            <a:extLst>
              <a:ext uri="{FF2B5EF4-FFF2-40B4-BE49-F238E27FC236}">
                <a16:creationId xmlns:a16="http://schemas.microsoft.com/office/drawing/2014/main" id="{E3FAE6C3-921F-4B92-8ACB-76FBB53BE367}"/>
              </a:ext>
            </a:extLst>
          </p:cNvPr>
          <p:cNvSpPr>
            <a:spLocks noGrp="1"/>
          </p:cNvSpPr>
          <p:nvPr/>
        </p:nvSpPr>
        <p:spPr>
          <a:xfrm>
            <a:off x="11839575" y="4457700"/>
            <a:ext cx="114300" cy="171450"/>
          </a:xfrm>
          <a:prstGeom prst="downArrow">
            <a:avLst/>
          </a:prstGeom>
          <a:solidFill>
            <a:srgbClr val="657077"/>
          </a:solidFill>
          <a:ln w="0"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EQ_q">
                <a:extLst>
                  <a:ext uri="{FF2B5EF4-FFF2-40B4-BE49-F238E27FC236}">
                    <a16:creationId xmlns:a16="http://schemas.microsoft.com/office/drawing/2014/main" id="{0E07B80E-6E6F-4F4C-86D2-7B40A3B0740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648950" y="4695825"/>
                <a:ext cx="2514600" cy="4286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𝑞</m:t>
                          </m:r>
                        </m:e>
                        <m:sub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10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100">
                          <a:solidFill>
                            <a:srgbClr val="000000"/>
                          </a:solidFill>
                          <a:latin typeface="Cambria Math"/>
                        </a:rPr>
                        <m:t>𝛽</m:t>
                      </m:r>
                      <m:r>
                        <a:rPr lang="en-US" sz="2100">
                          <a:solidFill>
                            <a:srgbClr val="000000"/>
                          </a:solidFill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10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2100"/>
              </a:p>
            </p:txBody>
          </p:sp>
        </mc:Choice>
        <mc:Fallback>
          <p:sp>
            <p:nvSpPr>
              <p:cNvPr id="91" name="EQ_q">
                <a:extLst>
                  <a:ext uri="{FF2B5EF4-FFF2-40B4-BE49-F238E27FC236}">
                    <a16:creationId xmlns:a16="http://schemas.microsoft.com/office/drawing/2014/main" id="{0E07B80E-6E6F-4F4C-86D2-7B40A3B074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950" y="4695825"/>
                <a:ext cx="2514600" cy="428625"/>
              </a:xfrm>
              <a:prstGeom prst="rect">
                <a:avLst/>
              </a:prstGeom>
              <a:blipFill>
                <a:blip r:embed="rId15"/>
                <a:stretch>
                  <a:fillRect b="-14085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exact recovery">
            <a:extLst>
              <a:ext uri="{FF2B5EF4-FFF2-40B4-BE49-F238E27FC236}">
                <a16:creationId xmlns:a16="http://schemas.microsoft.com/office/drawing/2014/main" id="{198649B9-F67F-4055-951C-31A92ED7FB9F}"/>
              </a:ext>
            </a:extLst>
          </p:cNvPr>
          <p:cNvSpPr>
            <a:spLocks noGrp="1"/>
          </p:cNvSpPr>
          <p:nvPr/>
        </p:nvSpPr>
        <p:spPr>
          <a:xfrm>
            <a:off x="9648825" y="5257800"/>
            <a:ext cx="4533900" cy="4953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Autofit/>
          </a:bodyPr>
          <a:lstStyle/>
          <a:p>
            <a:pPr algn="ctr">
              <a:defRPr sz="1425" b="0">
                <a:solidFill>
                  <a:srgbClr val="6570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77"/>
                </a:solidFill>
                <a:latin typeface="Arial"/>
                <a:ea typeface="Arial"/>
                <a:cs typeface="Arial"/>
              </a:rPr>
              <a:t>exact for the transferred finite target</a:t>
            </a:r>
          </a:p>
          <a:p>
            <a:pPr algn="ctr">
              <a:defRPr sz="1425" b="0">
                <a:solidFill>
                  <a:srgbClr val="6570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77"/>
                </a:solidFill>
                <a:latin typeface="Arial"/>
                <a:ea typeface="Arial"/>
                <a:cs typeface="Arial"/>
              </a:rPr>
              <a:t>without dense product-state factorisation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3" name="EQ_capacity">
                <a:extLst>
                  <a:ext uri="{FF2B5EF4-FFF2-40B4-BE49-F238E27FC236}">
                    <a16:creationId xmlns:a16="http://schemas.microsoft.com/office/drawing/2014/main" id="{E56EA3C0-0F80-4843-BBAF-B68E0357008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810750" y="5867400"/>
                <a:ext cx="4191000" cy="2667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5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5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en-US" sz="15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US" sz="1575">
                          <a:solidFill>
                            <a:srgbClr val="000000"/>
                          </a:solidFill>
                          <a:latin typeface="Cambria Math"/>
                        </a:rPr>
                        <m:t> ≃ </m:t>
                      </m:r>
                      <m:sSub>
                        <m:sSubPr>
                          <m:ctrlPr>
                            <a:rPr lang="en-US" sz="15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5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en-US" sz="15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1575">
                          <a:solidFill>
                            <a:srgbClr val="000000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1575">
                          <a:solidFill>
                            <a:srgbClr val="000000"/>
                          </a:solidFill>
                          <a:latin typeface="Cambria Math"/>
                        </a:rPr>
                        <m:t>𝑀</m:t>
                      </m:r>
                      <m:r>
                        <a:rPr lang="en-US" sz="1575">
                          <a:solidFill>
                            <a:srgbClr val="000000"/>
                          </a:solidFill>
                          <a:latin typeface="Cambria Math"/>
                        </a:rPr>
                        <m:t>:</m:t>
                      </m:r>
                    </m:oMath>
                  </m:oMathPara>
                </a14:m>
                <a:endParaRPr sz="1575"/>
              </a:p>
            </p:txBody>
          </p:sp>
        </mc:Choice>
        <mc:Fallback>
          <p:sp>
            <p:nvSpPr>
              <p:cNvPr id="93" name="EQ_capacity">
                <a:extLst>
                  <a:ext uri="{FF2B5EF4-FFF2-40B4-BE49-F238E27FC236}">
                    <a16:creationId xmlns:a16="http://schemas.microsoft.com/office/drawing/2014/main" id="{E56EA3C0-0F80-4843-BBAF-B68E035700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750" y="5867400"/>
                <a:ext cx="4191000" cy="266700"/>
              </a:xfrm>
              <a:prstGeom prst="rect">
                <a:avLst/>
              </a:prstGeom>
              <a:blipFill>
                <a:blip r:embed="rId16"/>
                <a:stretch>
                  <a:fillRect b="-11628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EQ_costs">
                <a:extLst>
                  <a:ext uri="{FF2B5EF4-FFF2-40B4-BE49-F238E27FC236}">
                    <a16:creationId xmlns:a16="http://schemas.microsoft.com/office/drawing/2014/main" id="{C22F4319-2D4B-4777-8D05-B247E974067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648825" y="6162675"/>
                <a:ext cx="4543425" cy="2667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575">
                          <a:solidFill>
                            <a:srgbClr val="00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1575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15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5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𝑀</m:t>
                          </m:r>
                        </m:e>
                        <m:sup>
                          <m:r>
                            <a:rPr lang="en-US" sz="15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sz="1575">
                          <a:solidFill>
                            <a:srgbClr val="000000"/>
                          </a:solidFill>
                          <a:latin typeface="Cambria Math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sz="1575">
                          <a:solidFill>
                            <a:srgbClr val="000000"/>
                          </a:solidFill>
                          <a:latin typeface="Cambria Math"/>
                        </a:rPr>
                        <m:t>recovery</m:t>
                      </m:r>
                      <m:r>
                        <a:rPr lang="en-US" sz="1575">
                          <a:solidFill>
                            <a:srgbClr val="000000"/>
                          </a:solidFill>
                          <a:latin typeface="Cambria Math"/>
                        </a:rPr>
                        <m:t>;  </m:t>
                      </m:r>
                      <m:r>
                        <a:rPr lang="en-US" sz="1575">
                          <a:solidFill>
                            <a:srgbClr val="00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1575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15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5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𝑀</m:t>
                          </m:r>
                        </m:e>
                        <m:sup>
                          <m:r>
                            <a:rPr lang="en-US" sz="1575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575">
                          <a:solidFill>
                            <a:srgbClr val="000000"/>
                          </a:solidFill>
                          <a:latin typeface="Cambria Math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sz="1575">
                          <a:solidFill>
                            <a:srgbClr val="000000"/>
                          </a:solidFill>
                          <a:latin typeface="Cambria Math"/>
                        </a:rPr>
                        <m:t>persistent</m:t>
                      </m:r>
                      <m:r>
                        <a:rPr lang="en-US" sz="1575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575">
                          <a:solidFill>
                            <a:srgbClr val="000000"/>
                          </a:solidFill>
                          <a:latin typeface="Cambria Math"/>
                        </a:rPr>
                        <m:t>state</m:t>
                      </m:r>
                    </m:oMath>
                  </m:oMathPara>
                </a14:m>
                <a:endParaRPr sz="1575"/>
              </a:p>
            </p:txBody>
          </p:sp>
        </mc:Choice>
        <mc:Fallback>
          <p:sp>
            <p:nvSpPr>
              <p:cNvPr id="94" name="EQ_costs">
                <a:extLst>
                  <a:ext uri="{FF2B5EF4-FFF2-40B4-BE49-F238E27FC236}">
                    <a16:creationId xmlns:a16="http://schemas.microsoft.com/office/drawing/2014/main" id="{C22F4319-2D4B-4777-8D05-B247E97406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8825" y="6162675"/>
                <a:ext cx="4543425" cy="266700"/>
              </a:xfrm>
              <a:prstGeom prst="rect">
                <a:avLst/>
              </a:prstGeom>
              <a:blipFill>
                <a:blip r:embed="rId17"/>
                <a:stretch>
                  <a:fillRect b="-27273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gap1">
            <a:extLst>
              <a:ext uri="{FF2B5EF4-FFF2-40B4-BE49-F238E27FC236}">
                <a16:creationId xmlns:a16="http://schemas.microsoft.com/office/drawing/2014/main" id="{A60BFA74-A424-4E33-853D-686FF3989EF9}"/>
              </a:ext>
            </a:extLst>
          </p:cNvPr>
          <p:cNvSpPr>
            <a:spLocks noGrp="1"/>
          </p:cNvSpPr>
          <p:nvPr/>
        </p:nvSpPr>
        <p:spPr>
          <a:xfrm>
            <a:off x="4629150" y="3838575"/>
            <a:ext cx="257175" cy="2381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6" name="memory to transfer">
            <a:extLst>
              <a:ext uri="{FF2B5EF4-FFF2-40B4-BE49-F238E27FC236}">
                <a16:creationId xmlns:a16="http://schemas.microsoft.com/office/drawing/2014/main" id="{7D035C4A-3E84-40FB-A7B3-40C6A8B84596}"/>
              </a:ext>
            </a:extLst>
          </p:cNvPr>
          <p:cNvSpPr>
            <a:spLocks noGrp="1"/>
          </p:cNvSpPr>
          <p:nvPr/>
        </p:nvSpPr>
        <p:spPr>
          <a:xfrm>
            <a:off x="4657725" y="3933825"/>
            <a:ext cx="209550" cy="57150"/>
          </a:xfrm>
          <a:prstGeom prst="rightArrow">
            <a:avLst/>
          </a:prstGeom>
          <a:solidFill>
            <a:srgbClr val="52636E"/>
          </a:solidFill>
          <a:ln w="0">
            <a:noFill/>
          </a:ln>
        </p:spPr>
      </p:sp>
      <p:sp>
        <p:nvSpPr>
          <p:cNvPr id="97" name="gap2">
            <a:extLst>
              <a:ext uri="{FF2B5EF4-FFF2-40B4-BE49-F238E27FC236}">
                <a16:creationId xmlns:a16="http://schemas.microsoft.com/office/drawing/2014/main" id="{E82006B2-A79E-46F5-9C6E-C6C36CDB86AB}"/>
              </a:ext>
            </a:extLst>
          </p:cNvPr>
          <p:cNvSpPr>
            <a:spLocks noGrp="1"/>
          </p:cNvSpPr>
          <p:nvPr/>
        </p:nvSpPr>
        <p:spPr>
          <a:xfrm>
            <a:off x="9391650" y="3838575"/>
            <a:ext cx="257175" cy="2381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8" name="transfer to recovery">
            <a:extLst>
              <a:ext uri="{FF2B5EF4-FFF2-40B4-BE49-F238E27FC236}">
                <a16:creationId xmlns:a16="http://schemas.microsoft.com/office/drawing/2014/main" id="{DCC85782-DA06-4B41-B476-65A7425C20C8}"/>
              </a:ext>
            </a:extLst>
          </p:cNvPr>
          <p:cNvSpPr>
            <a:spLocks noGrp="1"/>
          </p:cNvSpPr>
          <p:nvPr/>
        </p:nvSpPr>
        <p:spPr>
          <a:xfrm>
            <a:off x="9420225" y="3933825"/>
            <a:ext cx="209550" cy="57150"/>
          </a:xfrm>
          <a:prstGeom prst="rightArrow">
            <a:avLst/>
          </a:prstGeom>
          <a:solidFill>
            <a:srgbClr val="52636E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9375794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</Words>
  <Application>Microsoft Office PowerPoint</Application>
  <DocSecurity>0</DocSecurity>
  <PresentationFormat>自定义</PresentationFormat>
  <Paragraphs>46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GUO, Zhaodong</cp:lastModifiedBy>
  <cp:revision>1</cp:revision>
  <dcterms:created xsi:type="dcterms:W3CDTF">2026-09-13T14:05:31Z</dcterms:created>
  <dcterms:modified xsi:type="dcterms:W3CDTF">2026-09-13T14:05:43Z</dcterms:modified>
</cp:coreProperties>
</file>